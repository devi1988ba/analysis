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334155"/>
                </a:solidFill>
                <a:latin typeface="Arial"/>
              </a:rPr>
              <a:t>Restaurant Count by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C1-4411-85D6-819A72D125D4}"/>
              </c:ext>
            </c:extLst>
          </c:dPt>
          <c:dPt>
            <c:idx val="1"/>
            <c:invertIfNegative val="0"/>
            <c:bubble3D val="0"/>
            <c:spPr>
              <a:solidFill>
                <a:srgbClr val="B71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C1-4411-85D6-819A72D125D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4C1-4411-85D6-819A72D125D4}"/>
              </c:ext>
            </c:extLst>
          </c:dPt>
          <c:dPt>
            <c:idx val="3"/>
            <c:invertIfNegative val="0"/>
            <c:bubble3D val="0"/>
            <c:spPr>
              <a:solidFill>
                <a:srgbClr val="B71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C1-4411-85D6-819A72D125D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4C1-4411-85D6-819A72D125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109</c:v>
                </c:pt>
                <c:pt idx="2">
                  <c:v>93</c:v>
                </c:pt>
                <c:pt idx="3">
                  <c:v>92</c:v>
                </c:pt>
                <c:pt idx="4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4C1-4411-85D6-819A72D125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Cuisine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Cuisine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3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36-45B3-BB5E-3F50F3D826DF}"/>
              </c:ext>
            </c:extLst>
          </c:dPt>
          <c:dPt>
            <c:idx val="1"/>
            <c:bubble3D val="0"/>
            <c:spPr>
              <a:solidFill>
                <a:srgbClr val="0F34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36-45B3-BB5E-3F50F3D826DF}"/>
              </c:ext>
            </c:extLst>
          </c:dPt>
          <c:dPt>
            <c:idx val="2"/>
            <c:bubble3D val="0"/>
            <c:spPr>
              <a:solidFill>
                <a:srgbClr val="FFB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36-45B3-BB5E-3F50F3D826DF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36-45B3-BB5E-3F50F3D826DF}"/>
              </c:ext>
            </c:extLst>
          </c:dPt>
          <c:dPt>
            <c:idx val="4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B36-45B3-BB5E-3F50F3D826DF}"/>
              </c:ext>
            </c:extLst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B36-45B3-BB5E-3F50F3D826D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B36-45B3-BB5E-3F50F3D826D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B36-45B3-BB5E-3F50F3D826D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B36-45B3-BB5E-3F50F3D826D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B36-45B3-BB5E-3F50F3D826D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36-45B3-BB5E-3F50F3D826DF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B36-45B3-BB5E-3F50F3D826D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Indian</c:v>
                </c:pt>
                <c:pt idx="1">
                  <c:v>Chinese</c:v>
                </c:pt>
                <c:pt idx="2">
                  <c:v>Italian</c:v>
                </c:pt>
                <c:pt idx="3">
                  <c:v>Mexican</c:v>
                </c:pt>
                <c:pt idx="4">
                  <c:v>Thai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20</c:v>
                </c:pt>
                <c:pt idx="2">
                  <c:v>16</c:v>
                </c:pt>
                <c:pt idx="3">
                  <c:v>14</c:v>
                </c:pt>
                <c:pt idx="4">
                  <c:v>12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B36-45B3-BB5E-3F50F3D826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Monthly Revenue Trend — 2024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(₹)</c:v>
                </c:pt>
              </c:strCache>
            </c:strRef>
          </c:tx>
          <c:spPr>
            <a:ln w="38100" cap="flat">
              <a:solidFill>
                <a:srgbClr val="E237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3744"/>
              </a:solidFill>
              <a:ln w="9525" cap="flat">
                <a:solidFill>
                  <a:srgbClr val="E237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1267809</c:v>
                </c:pt>
                <c:pt idx="1">
                  <c:v>1325913</c:v>
                </c:pt>
                <c:pt idx="2">
                  <c:v>1283324</c:v>
                </c:pt>
                <c:pt idx="3">
                  <c:v>1376119</c:v>
                </c:pt>
                <c:pt idx="4">
                  <c:v>1265695</c:v>
                </c:pt>
                <c:pt idx="5">
                  <c:v>1260616</c:v>
                </c:pt>
                <c:pt idx="6">
                  <c:v>1310331</c:v>
                </c:pt>
                <c:pt idx="7">
                  <c:v>1320378</c:v>
                </c:pt>
                <c:pt idx="8">
                  <c:v>1298081</c:v>
                </c:pt>
                <c:pt idx="9">
                  <c:v>1307375</c:v>
                </c:pt>
                <c:pt idx="10">
                  <c:v>1278333</c:v>
                </c:pt>
                <c:pt idx="11">
                  <c:v>1279906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C0C-44B8-B6BE-3F48DC353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Top 5 Restaurants by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(₹)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BA-40D6-B83B-7228DA714EAD}"/>
              </c:ext>
            </c:extLst>
          </c:dPt>
          <c:dPt>
            <c:idx val="1"/>
            <c:invertIfNegative val="0"/>
            <c:bubble3D val="0"/>
            <c:spPr>
              <a:solidFill>
                <a:srgbClr val="B71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BA-40D6-B83B-7228DA714EA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ABA-40D6-B83B-7228DA714EAD}"/>
              </c:ext>
            </c:extLst>
          </c:dPt>
          <c:dPt>
            <c:idx val="3"/>
            <c:invertIfNegative val="0"/>
            <c:bubble3D val="0"/>
            <c:spPr>
              <a:solidFill>
                <a:srgbClr val="B71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BA-40D6-B83B-7228DA714EA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ABA-40D6-B83B-7228DA714EA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Restaurant_116
Bangalore</c:v>
                </c:pt>
                <c:pt idx="1">
                  <c:v>Restaurant_262
Bangalore</c:v>
                </c:pt>
                <c:pt idx="2">
                  <c:v>Restaurant_56
Mumbai</c:v>
                </c:pt>
                <c:pt idx="3">
                  <c:v>Restaurant_27
Delhi</c:v>
                </c:pt>
                <c:pt idx="4">
                  <c:v>Restaurant_127
Bangalore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50931</c:v>
                </c:pt>
                <c:pt idx="1">
                  <c:v>48860</c:v>
                </c:pt>
                <c:pt idx="2">
                  <c:v>48645</c:v>
                </c:pt>
                <c:pt idx="3">
                  <c:v>48562</c:v>
                </c:pt>
                <c:pt idx="4">
                  <c:v>48203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ABA-40D6-B83B-7228DA714E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01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2374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E2374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3744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🍕 Zomato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&amp; Restaurant Analysis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Power BI Dashboard — 10-Task Business Intelligence Report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1828800" cy="11887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18288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926080"/>
            <a:ext cx="1828800" cy="11887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926080"/>
            <a:ext cx="18288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1828800" cy="11887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926080"/>
            <a:ext cx="18288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926080"/>
            <a:ext cx="1828800" cy="11887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2926080"/>
            <a:ext cx="18288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₹15.57M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2024 Data Analysis  |  Power BI Dashboard  |  Business Intelligence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14630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3744"/>
                </a:solidFill>
              </a:rPr>
              <a:t>🎯 Project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Zomato's 2024 restaurant and order data across 5 major Indian cities to uncover revenue patterns, customer behaviour, and growth opportunities using Power BI.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3108960" cy="14630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00"/>
                </a:solidFill>
              </a:rPr>
              <a:t>📦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572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8 Excel Sheets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755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15,000 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938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500 Restaurants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121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5 Cities / 5 Areas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Full Year 2024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10 Analysis Tasks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546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Restaurants per City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93392" y="31089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3392" y="31089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1" name="Text 19"/>
          <p:cNvSpPr/>
          <p:nvPr/>
        </p:nvSpPr>
        <p:spPr>
          <a:xfrm>
            <a:off x="2084832" y="31546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Cuisine Popularity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12464" y="31089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12464" y="31089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4" name="Text 22"/>
          <p:cNvSpPr/>
          <p:nvPr/>
        </p:nvSpPr>
        <p:spPr>
          <a:xfrm>
            <a:off x="3803904" y="31546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Order Trends Over Time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31536" y="31089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31089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7" name="Text 25"/>
          <p:cNvSpPr/>
          <p:nvPr/>
        </p:nvSpPr>
        <p:spPr>
          <a:xfrm>
            <a:off x="5522976" y="31546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Rating Correlation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50608" y="31089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31089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0" name="Text 28"/>
          <p:cNvSpPr/>
          <p:nvPr/>
        </p:nvSpPr>
        <p:spPr>
          <a:xfrm>
            <a:off x="7242048" y="31546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Top 5 by Revenue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7947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7947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8404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Revenue by Area (Tree Map)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93392" y="37947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37947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6" name="Text 34"/>
          <p:cNvSpPr/>
          <p:nvPr/>
        </p:nvSpPr>
        <p:spPr>
          <a:xfrm>
            <a:off x="2084832" y="38404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Order Density Heat Map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12464" y="37947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12464" y="37947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9" name="Text 37"/>
          <p:cNvSpPr/>
          <p:nvPr/>
        </p:nvSpPr>
        <p:spPr>
          <a:xfrm>
            <a:off x="3803904" y="38404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KPI Cards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31536" y="37947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31536" y="37947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2" name="Text 40"/>
          <p:cNvSpPr/>
          <p:nvPr/>
        </p:nvSpPr>
        <p:spPr>
          <a:xfrm>
            <a:off x="5522976" y="38404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Restaurant Sales Table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50608" y="3794760"/>
            <a:ext cx="1627632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50608" y="3794760"/>
            <a:ext cx="54864" cy="5943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5" name="Text 43"/>
          <p:cNvSpPr/>
          <p:nvPr/>
        </p:nvSpPr>
        <p:spPr>
          <a:xfrm>
            <a:off x="7242048" y="384048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Interactive Dashboard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1 — Number of Restaurants per City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10515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51560"/>
            <a:ext cx="31089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🏆 Highest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3441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Mumbai — 115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572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Leads in restaurant count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920240"/>
            <a:ext cx="31089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📍 Lowest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212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Chennai — 91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441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Lowest presence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31089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📊 Range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081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Only 24 gap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Balanced distribution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3657600"/>
            <a:ext cx="310896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9788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🏙️ Metro Focus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97880" y="3950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5 Metros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4178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Zomato's key markets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Mumbai and Bangalore dominate with a combined 224 restaurants (44.8% of total), yet all cities have comparable restaurant density suggesting uniform market strategy.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2 — Cuisine Popularity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105156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Top Cuisines by Popularity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12080" y="1508760"/>
            <a:ext cx="35661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12080" y="1508760"/>
            <a:ext cx="64008" cy="38404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9" name="Text 6"/>
          <p:cNvSpPr/>
          <p:nvPr/>
        </p:nvSpPr>
        <p:spPr>
          <a:xfrm>
            <a:off x="5349240" y="1554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Indian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1554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3744"/>
                </a:solidFill>
              </a:rPr>
              <a:t>28%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49240" y="1828800"/>
            <a:ext cx="2987040" cy="457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2" name="Shape 9"/>
          <p:cNvSpPr/>
          <p:nvPr/>
        </p:nvSpPr>
        <p:spPr>
          <a:xfrm>
            <a:off x="5212080" y="1984248"/>
            <a:ext cx="35661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12080" y="1984248"/>
            <a:ext cx="64008" cy="38404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1"/>
          <p:cNvSpPr/>
          <p:nvPr/>
        </p:nvSpPr>
        <p:spPr>
          <a:xfrm>
            <a:off x="5349240" y="2029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Chinese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20299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3460"/>
                </a:solidFill>
              </a:rPr>
              <a:t>20%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49240" y="2304288"/>
            <a:ext cx="2133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Shape 14"/>
          <p:cNvSpPr/>
          <p:nvPr/>
        </p:nvSpPr>
        <p:spPr>
          <a:xfrm>
            <a:off x="5212080" y="2459736"/>
            <a:ext cx="35661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12080" y="2459736"/>
            <a:ext cx="64008" cy="38404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6"/>
          <p:cNvSpPr/>
          <p:nvPr/>
        </p:nvSpPr>
        <p:spPr>
          <a:xfrm>
            <a:off x="5349240" y="2505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Italian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25054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800"/>
                </a:solidFill>
              </a:rPr>
              <a:t>16%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49240" y="2779776"/>
            <a:ext cx="170688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Shape 19"/>
          <p:cNvSpPr/>
          <p:nvPr/>
        </p:nvSpPr>
        <p:spPr>
          <a:xfrm>
            <a:off x="5212080" y="2935224"/>
            <a:ext cx="35661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212080" y="2935224"/>
            <a:ext cx="64008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5349240" y="29809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Mexican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46720" y="29809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</a:rPr>
              <a:t>14%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49240" y="3255264"/>
            <a:ext cx="1493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4"/>
          <p:cNvSpPr/>
          <p:nvPr/>
        </p:nvSpPr>
        <p:spPr>
          <a:xfrm>
            <a:off x="5212080" y="3410712"/>
            <a:ext cx="35661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212080" y="3410712"/>
            <a:ext cx="64008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534924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Thai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04672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12%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49240" y="3730752"/>
            <a:ext cx="12801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29"/>
          <p:cNvSpPr/>
          <p:nvPr/>
        </p:nvSpPr>
        <p:spPr>
          <a:xfrm>
            <a:off x="5212080" y="3886200"/>
            <a:ext cx="35661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212080" y="3886200"/>
            <a:ext cx="64008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Text 31"/>
          <p:cNvSpPr/>
          <p:nvPr/>
        </p:nvSpPr>
        <p:spPr>
          <a:xfrm>
            <a:off x="5349240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Others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04672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</a:rPr>
              <a:t>10%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49240" y="4206240"/>
            <a:ext cx="10668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Text 34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Indian cuisine leads at 28% — local taste preference drives demand. International cuisines (Chinese + Italian) together account for 36%, showing strong appetite for diverse options.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3 — Order Amount Trends Over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1051560"/>
          <a:ext cx="8595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931920"/>
            <a:ext cx="274320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931920"/>
            <a:ext cx="27432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Peak Month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April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4590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₹13.76L — highest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3931920"/>
            <a:ext cx="274320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3931920"/>
            <a:ext cx="27432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Lowest Month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4612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46120" y="4590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₹12.61L — dip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931920"/>
            <a:ext cx="274320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931920"/>
            <a:ext cx="2743200" cy="6400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H2 vs H1 Growth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2648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+0.19%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26480" y="4590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Stable year-round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4 — Correlation: Factors Affecting Average Rating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6" name="Text 3"/>
          <p:cNvSpPr/>
          <p:nvPr/>
        </p:nvSpPr>
        <p:spPr>
          <a:xfrm>
            <a:off x="623147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Key Correlation Findings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Delivery time is the strongest negative predictor of customer ratings. Restaurants completing delivery in under 40 minutes consistently score 4.0+ ratings.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780721D-7D47-B1E8-C0E2-B6393F8B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78" y="1444752"/>
            <a:ext cx="4092295" cy="2784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5 — Top 5 Restaurants by Total Sales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10515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51560"/>
            <a:ext cx="3108960" cy="566928"/>
          </a:xfrm>
          <a:prstGeom prst="rect">
            <a:avLst/>
          </a:prstGeom>
          <a:solidFill>
            <a:srgbClr val="B71C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0972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🥇 #1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0" y="1088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Restaurant_116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0" y="1289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Bangalore · 46 orders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435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₹50,931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1709928"/>
            <a:ext cx="3108960" cy="56692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75564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🥈 #2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17465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Restaurant_262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1947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Bangalore · 41 orders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0" y="20939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₹48,860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2368296"/>
            <a:ext cx="3108960" cy="56692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241401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🥉 #3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Restaurant_56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26060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Mumbai · 44 orders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0" y="27523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₹48,645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3026664"/>
            <a:ext cx="3108960" cy="56692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52160" y="307238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4️⃣  #4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0" y="3063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Restaurant_27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83680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Delhi · 43 orders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0" y="34107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₹48,562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60720" y="3685032"/>
            <a:ext cx="3108960" cy="56692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852160" y="37307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5️⃣  #5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83680" y="3721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Restaurant_127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83680" y="39227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Bangalore · 50 orders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83680" y="40690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₹48,203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Bangalore dominates with 3 of the top 5 restaurants. The gap between rank 1 and 5 is only ₹2,728 — an extremely competitive top tier.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6 — Revenue by Area (Tree Map Analysis)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24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Revenue Distribution Across Areas (Tree Map Visual)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20240" cy="16459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1828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Area_B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Bangalore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359152"/>
            <a:ext cx="1828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₹9.82L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371600"/>
            <a:ext cx="1828800" cy="1645920"/>
          </a:xfrm>
          <a:prstGeom prst="rect">
            <a:avLst/>
          </a:prstGeom>
          <a:solidFill>
            <a:srgbClr val="B71C2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463040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Area_A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Bangalore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2359152"/>
            <a:ext cx="1737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₹9.68L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371600"/>
            <a:ext cx="1371600" cy="1645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463040"/>
            <a:ext cx="1280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Area_A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Mumbai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60520" y="2359152"/>
            <a:ext cx="1280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₹9.39L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1920240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154680"/>
            <a:ext cx="182880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Area_C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Delhi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776472"/>
            <a:ext cx="182880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₹8.31L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3063240"/>
            <a:ext cx="182880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154680"/>
            <a:ext cx="173736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Area_E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Mumbai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776472"/>
            <a:ext cx="17373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₹8.86L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063240"/>
            <a:ext cx="1371600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3154680"/>
            <a:ext cx="128016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Area_D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Bangalore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3776472"/>
            <a:ext cx="12801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₹7.42L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1024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Top Areas Summary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200400" cy="2304288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Area_B BLR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₹9.82L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Area_A BLR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₹9.68L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Area_A MUM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₹9.39L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Area_E MUM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₹8.86L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Area_C 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₹8.31L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Revenue is driven by ORDER VOLUME not spend. Average Order Value is similar across all areas (₹1,010–₹1,085), proving that footfall — not pricing — is the key revenue driver.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7 — Order Density by City (Heat Map)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241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Order Density Matrix (City × Area)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Area_A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94560" y="1371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Area_B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Area_C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0" y="1371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Area_D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Area_E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691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</a:rPr>
              <a:t>Mumbai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691640"/>
            <a:ext cx="804672" cy="384048"/>
          </a:xfrm>
          <a:prstGeom prst="rect">
            <a:avLst/>
          </a:prstGeom>
          <a:solidFill>
            <a:srgbClr val="E23B4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6916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929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1691640"/>
            <a:ext cx="804672" cy="384048"/>
          </a:xfrm>
          <a:prstGeom prst="rect">
            <a:avLst/>
          </a:prstGeom>
          <a:solidFill>
            <a:srgbClr val="E66D76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6916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672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691640"/>
            <a:ext cx="804672" cy="384048"/>
          </a:xfrm>
          <a:prstGeom prst="rect">
            <a:avLst/>
          </a:prstGeom>
          <a:solidFill>
            <a:srgbClr val="E99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16916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475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691640"/>
            <a:ext cx="804672" cy="384048"/>
          </a:xfrm>
          <a:prstGeom prst="rect">
            <a:avLst/>
          </a:prstGeom>
          <a:solidFill>
            <a:srgbClr val="E9949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6916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473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804672" cy="384048"/>
          </a:xfrm>
          <a:prstGeom prst="rect">
            <a:avLst/>
          </a:prstGeom>
          <a:solidFill>
            <a:srgbClr val="E44D5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6916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835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16712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</a:rPr>
              <a:t>Bangalore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2167128"/>
            <a:ext cx="804672" cy="384048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216712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949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2167128"/>
            <a:ext cx="804672" cy="384048"/>
          </a:xfrm>
          <a:prstGeom prst="rect">
            <a:avLst/>
          </a:prstGeom>
          <a:solidFill>
            <a:srgbClr val="E2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216712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940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2167128"/>
            <a:ext cx="804672" cy="384048"/>
          </a:xfrm>
          <a:prstGeom prst="rect">
            <a:avLst/>
          </a:prstGeom>
          <a:solidFill>
            <a:srgbClr val="EBADB1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216712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346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0" y="2167128"/>
            <a:ext cx="804672" cy="384048"/>
          </a:xfrm>
          <a:prstGeom prst="rect">
            <a:avLst/>
          </a:prstGeom>
          <a:solidFill>
            <a:srgbClr val="E6656F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216712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167128"/>
            <a:ext cx="804672" cy="384048"/>
          </a:xfrm>
          <a:prstGeom prst="rect">
            <a:avLst/>
          </a:prstGeom>
          <a:solidFill>
            <a:srgbClr val="EBABB0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16712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354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26426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</a:rPr>
              <a:t>Delhi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0" y="2642616"/>
            <a:ext cx="804672" cy="384048"/>
          </a:xfrm>
          <a:prstGeom prst="rect">
            <a:avLst/>
          </a:prstGeom>
          <a:solidFill>
            <a:srgbClr val="EBACB0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264261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351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94560" y="2642616"/>
            <a:ext cx="804672" cy="384048"/>
          </a:xfrm>
          <a:prstGeom prst="rect">
            <a:avLst/>
          </a:prstGeom>
          <a:solidFill>
            <a:srgbClr val="E9959C"/>
          </a:solidFill>
          <a:ln/>
        </p:spPr>
      </p:sp>
      <p:sp>
        <p:nvSpPr>
          <p:cNvPr id="37" name="Text 35"/>
          <p:cNvSpPr/>
          <p:nvPr/>
        </p:nvSpPr>
        <p:spPr>
          <a:xfrm>
            <a:off x="2194560" y="264261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466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17520" y="2642616"/>
            <a:ext cx="804672" cy="384048"/>
          </a:xfrm>
          <a:prstGeom prst="rect">
            <a:avLst/>
          </a:prstGeom>
          <a:solidFill>
            <a:srgbClr val="E4535E"/>
          </a:solidFill>
          <a:ln/>
        </p:spPr>
      </p:sp>
      <p:sp>
        <p:nvSpPr>
          <p:cNvPr id="39" name="Text 37"/>
          <p:cNvSpPr/>
          <p:nvPr/>
        </p:nvSpPr>
        <p:spPr>
          <a:xfrm>
            <a:off x="3017520" y="264261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2642616"/>
            <a:ext cx="804672" cy="384048"/>
          </a:xfrm>
          <a:prstGeom prst="rect">
            <a:avLst/>
          </a:prstGeom>
          <a:solidFill>
            <a:srgbClr val="E8858D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264261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548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42616"/>
            <a:ext cx="804672" cy="384048"/>
          </a:xfrm>
          <a:prstGeom prst="rect">
            <a:avLst/>
          </a:prstGeom>
          <a:solidFill>
            <a:srgbClr val="E66A73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264261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689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311810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</a:rPr>
              <a:t>Kolkata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71600" y="3118104"/>
            <a:ext cx="804672" cy="384048"/>
          </a:xfrm>
          <a:prstGeom prst="rect">
            <a:avLst/>
          </a:prstGeom>
          <a:solidFill>
            <a:srgbClr val="E98E95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0" y="311810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504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94560" y="3118104"/>
            <a:ext cx="804672" cy="384048"/>
          </a:xfrm>
          <a:prstGeom prst="rect">
            <a:avLst/>
          </a:prstGeom>
          <a:solidFill>
            <a:srgbClr val="E77B83"/>
          </a:solidFill>
          <a:ln/>
        </p:spPr>
      </p:sp>
      <p:sp>
        <p:nvSpPr>
          <p:cNvPr id="48" name="Text 46"/>
          <p:cNvSpPr/>
          <p:nvPr/>
        </p:nvSpPr>
        <p:spPr>
          <a:xfrm>
            <a:off x="2194560" y="311810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17520" y="3118104"/>
            <a:ext cx="804672" cy="384048"/>
          </a:xfrm>
          <a:prstGeom prst="rect">
            <a:avLst/>
          </a:prstGeom>
          <a:solidFill>
            <a:srgbClr val="E6717A"/>
          </a:solidFill>
          <a:ln/>
        </p:spPr>
      </p:sp>
      <p:sp>
        <p:nvSpPr>
          <p:cNvPr id="50" name="Text 48"/>
          <p:cNvSpPr/>
          <p:nvPr/>
        </p:nvSpPr>
        <p:spPr>
          <a:xfrm>
            <a:off x="3017520" y="311810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653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840480" y="3118104"/>
            <a:ext cx="804672" cy="384048"/>
          </a:xfrm>
          <a:prstGeom prst="rect">
            <a:avLst/>
          </a:prstGeom>
          <a:solidFill>
            <a:srgbClr val="E8868E"/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0" y="311810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543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3118104"/>
            <a:ext cx="804672" cy="384048"/>
          </a:xfrm>
          <a:prstGeom prst="rect">
            <a:avLst/>
          </a:prstGeom>
          <a:solidFill>
            <a:srgbClr val="EA9CA2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311810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432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359359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</a:rPr>
              <a:t>Chennai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371600" y="3593592"/>
            <a:ext cx="804672" cy="384048"/>
          </a:xfrm>
          <a:prstGeom prst="rect">
            <a:avLst/>
          </a:prstGeom>
          <a:solidFill>
            <a:srgbClr val="E8868E"/>
          </a:solidFill>
          <a:ln/>
        </p:spPr>
      </p:sp>
      <p:sp>
        <p:nvSpPr>
          <p:cNvPr id="57" name="Text 55"/>
          <p:cNvSpPr/>
          <p:nvPr/>
        </p:nvSpPr>
        <p:spPr>
          <a:xfrm>
            <a:off x="1371600" y="359359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543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94560" y="3593592"/>
            <a:ext cx="804672" cy="384048"/>
          </a:xfrm>
          <a:prstGeom prst="rect">
            <a:avLst/>
          </a:prstGeom>
          <a:solidFill>
            <a:srgbClr val="EAA6AB"/>
          </a:solidFill>
          <a:ln/>
        </p:spPr>
      </p:sp>
      <p:sp>
        <p:nvSpPr>
          <p:cNvPr id="59" name="Text 57"/>
          <p:cNvSpPr/>
          <p:nvPr/>
        </p:nvSpPr>
        <p:spPr>
          <a:xfrm>
            <a:off x="2194560" y="359359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380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017520" y="3593592"/>
            <a:ext cx="804672" cy="384048"/>
          </a:xfrm>
          <a:prstGeom prst="rect">
            <a:avLst/>
          </a:prstGeom>
          <a:solidFill>
            <a:srgbClr val="E66D76"/>
          </a:solidFill>
          <a:ln/>
        </p:spPr>
      </p:sp>
      <p:sp>
        <p:nvSpPr>
          <p:cNvPr id="61" name="Text 59"/>
          <p:cNvSpPr/>
          <p:nvPr/>
        </p:nvSpPr>
        <p:spPr>
          <a:xfrm>
            <a:off x="3017520" y="359359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674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840480" y="3593592"/>
            <a:ext cx="804672" cy="384048"/>
          </a:xfrm>
          <a:prstGeom prst="rect">
            <a:avLst/>
          </a:prstGeom>
          <a:solidFill>
            <a:srgbClr val="E67079"/>
          </a:solidFill>
          <a:ln/>
        </p:spPr>
      </p:sp>
      <p:sp>
        <p:nvSpPr>
          <p:cNvPr id="63" name="Text 61"/>
          <p:cNvSpPr/>
          <p:nvPr/>
        </p:nvSpPr>
        <p:spPr>
          <a:xfrm>
            <a:off x="3840480" y="359359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657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3593592"/>
            <a:ext cx="804672" cy="384048"/>
          </a:xfrm>
          <a:prstGeom prst="rect">
            <a:avLst/>
          </a:prstGeom>
          <a:solidFill>
            <a:srgbClr val="E9949A"/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359359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473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Low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31520" y="4160520"/>
            <a:ext cx="201168" cy="1828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8" name="Shape 66"/>
          <p:cNvSpPr/>
          <p:nvPr/>
        </p:nvSpPr>
        <p:spPr>
          <a:xfrm>
            <a:off x="932688" y="4160520"/>
            <a:ext cx="201168" cy="182880"/>
          </a:xfrm>
          <a:prstGeom prst="rect">
            <a:avLst/>
          </a:prstGeom>
          <a:solidFill>
            <a:srgbClr val="EED6D7"/>
          </a:solidFill>
          <a:ln/>
        </p:spPr>
      </p:sp>
      <p:sp>
        <p:nvSpPr>
          <p:cNvPr id="69" name="Shape 67"/>
          <p:cNvSpPr/>
          <p:nvPr/>
        </p:nvSpPr>
        <p:spPr>
          <a:xfrm>
            <a:off x="1133856" y="4160520"/>
            <a:ext cx="201168" cy="182880"/>
          </a:xfrm>
          <a:prstGeom prst="rect">
            <a:avLst/>
          </a:prstGeom>
          <a:solidFill>
            <a:srgbClr val="ECBBBF"/>
          </a:solidFill>
          <a:ln/>
        </p:spPr>
      </p:sp>
      <p:sp>
        <p:nvSpPr>
          <p:cNvPr id="70" name="Shape 68"/>
          <p:cNvSpPr/>
          <p:nvPr/>
        </p:nvSpPr>
        <p:spPr>
          <a:xfrm>
            <a:off x="1335024" y="4160520"/>
            <a:ext cx="201168" cy="182880"/>
          </a:xfrm>
          <a:prstGeom prst="rect">
            <a:avLst/>
          </a:prstGeom>
          <a:solidFill>
            <a:srgbClr val="EAA1A6"/>
          </a:solidFill>
          <a:ln/>
        </p:spPr>
      </p:sp>
      <p:sp>
        <p:nvSpPr>
          <p:cNvPr id="71" name="Shape 69"/>
          <p:cNvSpPr/>
          <p:nvPr/>
        </p:nvSpPr>
        <p:spPr>
          <a:xfrm>
            <a:off x="1536192" y="4160520"/>
            <a:ext cx="201168" cy="182880"/>
          </a:xfrm>
          <a:prstGeom prst="rect">
            <a:avLst/>
          </a:prstGeom>
          <a:solidFill>
            <a:srgbClr val="E8868E"/>
          </a:solidFill>
          <a:ln/>
        </p:spPr>
      </p:sp>
      <p:sp>
        <p:nvSpPr>
          <p:cNvPr id="72" name="Shape 70"/>
          <p:cNvSpPr/>
          <p:nvPr/>
        </p:nvSpPr>
        <p:spPr>
          <a:xfrm>
            <a:off x="1737360" y="4160520"/>
            <a:ext cx="201168" cy="182880"/>
          </a:xfrm>
          <a:prstGeom prst="rect">
            <a:avLst/>
          </a:prstGeom>
          <a:solidFill>
            <a:srgbClr val="E66C75"/>
          </a:solidFill>
          <a:ln/>
        </p:spPr>
      </p:sp>
      <p:sp>
        <p:nvSpPr>
          <p:cNvPr id="73" name="Shape 71"/>
          <p:cNvSpPr/>
          <p:nvPr/>
        </p:nvSpPr>
        <p:spPr>
          <a:xfrm>
            <a:off x="1938528" y="4160520"/>
            <a:ext cx="201168" cy="182880"/>
          </a:xfrm>
          <a:prstGeom prst="rect">
            <a:avLst/>
          </a:prstGeom>
          <a:solidFill>
            <a:srgbClr val="E4515D"/>
          </a:solidFill>
          <a:ln/>
        </p:spPr>
      </p:sp>
      <p:sp>
        <p:nvSpPr>
          <p:cNvPr id="74" name="Shape 72"/>
          <p:cNvSpPr/>
          <p:nvPr/>
        </p:nvSpPr>
        <p:spPr>
          <a:xfrm>
            <a:off x="2139696" y="4160520"/>
            <a:ext cx="201168" cy="18288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5" name="Text 73"/>
          <p:cNvSpPr/>
          <p:nvPr/>
        </p:nvSpPr>
        <p:spPr>
          <a:xfrm>
            <a:off x="237744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High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760720" y="1024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Orders per Restaurant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760720" y="1371600"/>
            <a:ext cx="3108960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897880" y="1408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🥇 Mumbai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897880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3,384 orders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77240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B800"/>
                </a:solidFill>
              </a:rPr>
              <a:t>29.4/rest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760720" y="1938528"/>
            <a:ext cx="3108960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89788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🥈 Bangalore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89788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3,300 orders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72400" y="2029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B800"/>
                </a:solidFill>
              </a:rPr>
              <a:t>30.3/rest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5760720" y="2505456"/>
            <a:ext cx="3108960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89788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🥉 Delhi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897880" y="2761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2,857 orders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772400" y="25968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B800"/>
                </a:solidFill>
              </a:rPr>
              <a:t>30.7/rest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760720" y="3072384"/>
            <a:ext cx="3108960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5897880" y="3108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4️⃣ Kolkata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897880" y="33284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2,732 orders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772400" y="3163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B800"/>
                </a:solidFill>
              </a:rPr>
              <a:t>29.7/rest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5760720" y="3639312"/>
            <a:ext cx="3108960" cy="475488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589788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5️⃣ Chennai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897880" y="38953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2,727 orders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772400" y="3730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B800"/>
                </a:solidFill>
              </a:rPr>
              <a:t>30.0/rest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Delhi has highest demand pressure at 30.7 orders/restaurant despite ranking 3rd in total orders. Mumbai leads total volume but Bangalore is the strongest growth market.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8 — KPI Cards: Business Performance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201168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011680" cy="7315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₹15.57M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Year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201168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51560"/>
            <a:ext cx="201168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444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₹1,038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Per transaction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201168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5156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444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Across 5 cities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051560"/>
            <a:ext cx="2011680" cy="14173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051560"/>
            <a:ext cx="201168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444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 / 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Customer 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26060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H1 vs H2 Performance Comparison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" y="2999232"/>
            <a:ext cx="4206240" cy="15087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Growth H1 → H2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17373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639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₹77.79L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240280" y="3383280"/>
            <a:ext cx="17373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224028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40280" y="3639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₹77.94L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4279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▲ +0.19%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2999232"/>
            <a:ext cx="4206240" cy="15087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AOV Growth H1 → H2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3383280"/>
            <a:ext cx="17373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639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₹1,035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75120" y="3383280"/>
            <a:ext cx="17373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3639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₹1,041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00600" y="4279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▲ +0.46%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Insight: Extremely stable revenue with only +0.19% H2 growth — indicating consistent year-round demand. No major seasonal dips, signalling strong platform reliability.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9 — Restaurant-Wise Sales Summary Table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6400800" cy="349300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₹50,931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Restaurant_262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₹48,860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₹48,645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₹48,562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Restaurant_127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₹48,203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Restaurant_149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₹15,663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Restaurant_249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₹13,650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💡 Insight: Bottom performers suffer from LOW ORDER COUNTS (13–19 orders), not low AOV. This signals a visibility/marketing problem, not a pricing issue. Focus on customer acquisition for underperforming restaurants.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10 — Interactive Power BI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834640" cy="5029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</a:rPr>
              <a:t>Page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4 KPI Cards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H1 vs H2 KPI Visuals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Orders by City Bar Chart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80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Revenue Share Donut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4198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Top City &amp; Restaurant Cards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51560"/>
            <a:ext cx="283464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51560"/>
            <a:ext cx="2834640" cy="5029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</a:rPr>
              <a:t>Page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&amp; Trends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664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Line Chart — Sales Over 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Tree Map — Revenue by Area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542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Top 5 Restaurants Chart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980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Order Density Heat Map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17336" y="1051560"/>
            <a:ext cx="283464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051560"/>
            <a:ext cx="2834640" cy="5029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4" name="Text 22"/>
          <p:cNvSpPr/>
          <p:nvPr/>
        </p:nvSpPr>
        <p:spPr>
          <a:xfrm>
            <a:off x="6208776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</a:rPr>
              <a:t>Page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8776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Restaurant Deep Dive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1664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Scatter Plot — Delivery vs Rating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Restaurant Sales Summary Table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2542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Conditional Formatting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4496" y="2980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◆  Sales Rank Column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389120"/>
            <a:ext cx="8686800" cy="62179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🎛️  Global Slicers (Applied to All Pages):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0" y="4462272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446227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🏙️ City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50208" y="4462272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3950208" y="446227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📍 Area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57216" y="4462272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57216" y="446227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💲 Price Range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64224" y="4462272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364224" y="446227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📅 Quarter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71232" y="4462272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7571232" y="446227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🔀 Weekday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Key Insights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4251960" cy="11430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73152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🏙️  City Dominance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Mumbai &amp; Bangalore account for 44.8% of all restaurants and 40.5% of total orders — these are Zomato's core revenue cities.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90872" y="1051560"/>
            <a:ext cx="4251960" cy="11430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05156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Revenue Stability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90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Only +0.19% H2 vs H1 growth shows exceptionally stable demand — no seasonal slumps. Year-round consistent performance.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13432"/>
            <a:ext cx="4251960" cy="11430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13432"/>
            <a:ext cx="73152" cy="1143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 Rating Driver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7523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Delivery time is the #1 factor affecting ratings. Restaurants under 40-min delivery score 4.0+ consistently.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2313432"/>
            <a:ext cx="4251960" cy="11430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313432"/>
            <a:ext cx="73152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 Order Volume = Revenue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7523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Average Order Value is nearly identical across all areas (₹1,010–₹1,085). Revenue is driven purely by order volume.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575304"/>
            <a:ext cx="4251960" cy="11430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575304"/>
            <a:ext cx="73152" cy="1143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666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🍽️  Tight Competition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0142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Top 5 restaurants are separated by only ₹2,728 in revenue — an extremely competitive premium tier.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3575304"/>
            <a:ext cx="4251960" cy="11430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575304"/>
            <a:ext cx="73152" cy="11430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3666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Bottom Performers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40142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Low-revenue restaurants have only 13–19 orders, not low pricing. Visibility and marketing investment needed.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Business Recommendations — Part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8686800" cy="11887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594360" cy="11887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34416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042416"/>
            <a:ext cx="1097280" cy="256032"/>
          </a:xfrm>
          <a:prstGeom prst="rect">
            <a:avLst/>
          </a:prstGeom>
          <a:solidFill>
            <a:srgbClr val="E23744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42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PRIORITY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 Delivery Time in Delhi &amp; Kolkata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Problem: Delhi has the highest demand per restaurant (30.7 orders/rest) but ratings are dragged down by delivery delays.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Partner with 3rd-party logistics providers in Delhi &amp; Kolkata. Target sub-40-min delivery SLA for 90% of orders.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115568"/>
            <a:ext cx="283464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📊 Expected Impact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4081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Estimated +0.4–0.6 rating improvement → higher repeat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322576"/>
            <a:ext cx="8686800" cy="11887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22576"/>
            <a:ext cx="594360" cy="11887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642616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2340864"/>
            <a:ext cx="1097280" cy="256032"/>
          </a:xfrm>
          <a:prstGeom prst="rect">
            <a:avLst/>
          </a:prstGeom>
          <a:solidFill>
            <a:srgbClr val="E2374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3408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PRIORITY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2642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Boost Marketing for Bottom-50 Restaurants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Problem: 500th ranked restaurant had only 13 orders — a visibility problem, not a pricing one (AOV is ₹1,050).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191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Launch targeted promotions, featured listings, and combo deals for restaurants with &lt;20 orders/month.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2414016"/>
            <a:ext cx="283464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459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📊 Expected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27066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If each gets +10 orders: ₹13,500 additional revenue per restaurant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8686800" cy="11887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621024"/>
            <a:ext cx="594360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394106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3639312"/>
            <a:ext cx="1097280" cy="256032"/>
          </a:xfrm>
          <a:prstGeom prst="rect">
            <a:avLst/>
          </a:prstGeom>
          <a:solidFill>
            <a:srgbClr val="FFB80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PRIORITY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14400" y="3941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in Area_E Bangalore (Underserved)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224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Problem: Area_E Bangalore has the highest AOV (₹1,085) but only 354 orders — lowest in the city.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14400" y="44897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Increase restaurant onboarding in Area_E Bangalore. Premium customers are present but supply is thin.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3712464"/>
            <a:ext cx="283464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📊 Expected Impact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4005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High-value untapped segment with ₹1,085 average spend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Business Recommendations — Part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8686800" cy="11887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594360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34416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042416"/>
            <a:ext cx="1371600" cy="256032"/>
          </a:xfrm>
          <a:prstGeom prst="rect">
            <a:avLst/>
          </a:prstGeom>
          <a:solidFill>
            <a:srgbClr val="FFB800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42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PRIORITY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Leverage April Peak — Seasonal Campaign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Problem: April is the peak month at ₹13.76L (+9% above average) but no focused campaigns capitalize on this.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Launch 'Summer Food Festival' campaigns in April with restaurant deals, free delivery, and loyalty rewards.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115568"/>
            <a:ext cx="283464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📊 Expected Impact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4081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Additional 5–10% revenue uplift during natural peak period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322576"/>
            <a:ext cx="8686800" cy="11887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22576"/>
            <a:ext cx="59436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642616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2340864"/>
            <a:ext cx="1371600" cy="256032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PRIORITY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2642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Promote Delivery-Enabled Restaurants in Chennai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Problem: Chennai has the lowest order count (2,727) but competitive restaurant count (91). Demand gap exists.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191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Incentivize non-delivery restaurants in Chennai to join delivery network. Offer first-month delivery fee waiver.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2414016"/>
            <a:ext cx="283464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459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📊 Expected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27066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Potential 10–15% order volume increase in Chennai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8686800" cy="11887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621024"/>
            <a:ext cx="59436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394106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3639312"/>
            <a:ext cx="1371600" cy="256032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393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 PRIORITY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14400" y="3941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Introduce Price-Tier Based Loyalty Program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224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Problem: High-price restaurants show slightly better ratings but the effect is modest. Customer retention not optimized.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14400" y="44897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Create 3-tier loyalty: Bronze (Low price), Silver (Medium), Gold (High price restaurants). Reward repeat visits.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3712464"/>
            <a:ext cx="283464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</a:rPr>
              <a:t>📊 Expected Impact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4005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Improved retention and higher LTV across all price segments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E2374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23744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3744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Zomato Orders &amp; Restaurant Analysis — 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10 analytical tasks completed across 3 Power BI dashboard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₹15.57M total revenue analyzed across 15,000 orders &amp; 500 restaurants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951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Delivery time identified as the #1 rating driver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Revenue driven by order volume, not pricing — equal AOV citywide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8152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6 actionable business recommendations with measurable 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Fully interactive dashboard with global slicers and cross-filtering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128016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977640"/>
            <a:ext cx="128016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0416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Tasks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3977640"/>
            <a:ext cx="128016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83080" y="3977640"/>
            <a:ext cx="128016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783080" y="40416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8308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Measures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977640"/>
            <a:ext cx="128016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977640"/>
            <a:ext cx="128016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0416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0040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Dashboard Pages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977640"/>
            <a:ext cx="128016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977640"/>
            <a:ext cx="128016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40416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1772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Thank You  |  Questions?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1766</Words>
  <Application>Microsoft Office PowerPoint</Application>
  <PresentationFormat>On-screen Show (16:9)</PresentationFormat>
  <Paragraphs>427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Orders &amp; Restaurant Analysis</dc:title>
  <dc:subject>PptxGenJS Presentation</dc:subject>
  <dc:creator>Business Analytics Team</dc:creator>
  <cp:lastModifiedBy>Devi Balaji</cp:lastModifiedBy>
  <cp:revision>4</cp:revision>
  <dcterms:created xsi:type="dcterms:W3CDTF">2026-04-04T08:31:14Z</dcterms:created>
  <dcterms:modified xsi:type="dcterms:W3CDTF">2026-04-16T11:53:24Z</dcterms:modified>
</cp:coreProperties>
</file>