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466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2468880" cy="246888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914400"/>
            <a:ext cx="1920240" cy="1920240"/>
          </a:xfrm>
          <a:prstGeom prst="ellipse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73A"/>
                </a:solidFill>
              </a:rPr>
              <a:t>B&amp;J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371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7E8D1"/>
                </a:solidFill>
              </a:rPr>
              <a:t>B&amp;J BISCUIT COMPANY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C5B0"/>
                </a:solidFill>
              </a:rPr>
              <a:t>SALES DASHBOARD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0" y="914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Sales Performance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749040" y="1691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9973A"/>
                </a:solidFill>
              </a:rPr>
              <a:t>Analysis Project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749040" y="2578608"/>
            <a:ext cx="5029200" cy="45720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7249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7E8D1"/>
                </a:solidFill>
              </a:rPr>
              <a:t>Data Cleaning  ·  KPI Analysis  ·  Interactive 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3246120"/>
            <a:ext cx="1143000" cy="1188720"/>
          </a:xfrm>
          <a:prstGeom prst="rect">
            <a:avLst/>
          </a:prstGeom>
          <a:solidFill>
            <a:srgbClr val="7A2E27"/>
          </a:solidFill>
          <a:ln w="1270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33375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A"/>
                </a:solidFill>
              </a:rPr>
              <a:t>$61.6M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3913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8D1"/>
                </a:solidFill>
              </a:rPr>
              <a:t>Revenue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10912" y="3246120"/>
            <a:ext cx="1143000" cy="1188720"/>
          </a:xfrm>
          <a:prstGeom prst="rect">
            <a:avLst/>
          </a:prstGeom>
          <a:solidFill>
            <a:srgbClr val="7A2E27"/>
          </a:solidFill>
          <a:ln w="1270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10912" y="33375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A"/>
                </a:solidFill>
              </a:rPr>
              <a:t>$26.8M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10912" y="3913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8D1"/>
                </a:solidFill>
              </a:rPr>
              <a:t>Profit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72784" y="3246120"/>
            <a:ext cx="1143000" cy="1188720"/>
          </a:xfrm>
          <a:prstGeom prst="rect">
            <a:avLst/>
          </a:prstGeom>
          <a:solidFill>
            <a:srgbClr val="7A2E27"/>
          </a:solidFill>
          <a:ln w="1270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72784" y="33375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A"/>
                </a:solidFill>
              </a:rPr>
              <a:t>43.5%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2784" y="3913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8D1"/>
                </a:solidFill>
              </a:rPr>
              <a:t>Margin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34656" y="3246120"/>
            <a:ext cx="1143000" cy="1188720"/>
          </a:xfrm>
          <a:prstGeom prst="rect">
            <a:avLst/>
          </a:prstGeom>
          <a:solidFill>
            <a:srgbClr val="7A2E27"/>
          </a:solidFill>
          <a:ln w="1270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34656" y="333756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73A"/>
                </a:solidFill>
              </a:rPr>
              <a:t>12,000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34656" y="3913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8D1"/>
                </a:solidFill>
              </a:rPr>
              <a:t>Customers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U.S.-Based FMCG Company  |  10 Biscuit Brands  |  12,000 Transactions  |  2024 Full Year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973A"/>
                </a:solidFill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About This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2C2C"/>
                </a:solidFill>
              </a:rPr>
              <a:t>B&amp;J Biscuits is a U.S.-based FMCG company. Using Excel as a full analytics environment, raw transactional data (12,000 records) was transformed into two interactive dashboards revealing customer demographics, revenue drivers, and performance trends.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03120"/>
            <a:ext cx="27432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5042"/>
                </a:solidFill>
              </a:rPr>
              <a:t>Who Buys?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2C2C"/>
                </a:solidFill>
              </a:rPr>
              <a:t>Customer demographics &amp; age segmentation across all products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210312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103120"/>
            <a:ext cx="27432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5042"/>
                </a:solidFill>
              </a:rPr>
              <a:t>Where Revenue Comes From?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33649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2C2C"/>
                </a:solidFill>
              </a:rPr>
              <a:t>Location, brand &amp; sales rep performance breakdown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103120"/>
            <a:ext cx="27432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7220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5042"/>
                </a:solidFill>
              </a:rPr>
              <a:t>Business Over Time?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33649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2C2C"/>
                </a:solidFill>
              </a:rPr>
              <a:t>Monthly, quarterly &amp; seasonal revenue/profit trends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617720"/>
            <a:ext cx="8595360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1772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 1: Sales Overview  |  Dashboard 2: Product Sold Insights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B&amp;J Biscuit Company  |  Sales Performance Dashboard 2024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2E27"/>
                </a:solidFill>
              </a:rPr>
              <a:t>KEY PERFORMANCE INDICATORS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2E27"/>
                </a:solidFill>
              </a:rPr>
              <a:t>2024 Full Year —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011680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155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$61.6M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024128"/>
            <a:ext cx="20116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1155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$26.8M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50592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Profit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24128"/>
            <a:ext cx="2011680" cy="14173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1155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$34.8M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26864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COGS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1024128"/>
            <a:ext cx="2011680" cy="1417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1155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43.5%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03136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1600200" cy="1325880"/>
          </a:xfrm>
          <a:prstGeom prst="rect">
            <a:avLst/>
          </a:prstGeom>
          <a:solidFill>
            <a:srgbClr val="2A2A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78608"/>
            <a:ext cx="160020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97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D6A4F"/>
                </a:solidFill>
              </a:rPr>
              <a:t>3,050,309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74320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</a:rPr>
              <a:t>Units Sold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57493" y="2578608"/>
            <a:ext cx="1600200" cy="1325880"/>
          </a:xfrm>
          <a:prstGeom prst="rect">
            <a:avLst/>
          </a:prstGeom>
          <a:solidFill>
            <a:srgbClr val="2A2A2A"/>
          </a:solidFill>
          <a:ln w="12700">
            <a:solidFill>
              <a:srgbClr val="E07B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71042" y="2578608"/>
            <a:ext cx="1600200" cy="73152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2697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7B54"/>
                </a:solidFill>
              </a:rPr>
              <a:t>12,000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011680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</a:rPr>
              <a:t>Total Orders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49040" y="2578608"/>
            <a:ext cx="1600200" cy="1325880"/>
          </a:xfrm>
          <a:prstGeom prst="rect">
            <a:avLst/>
          </a:prstGeom>
          <a:solidFill>
            <a:srgbClr val="2A2A2A"/>
          </a:solidFill>
          <a:ln w="12700">
            <a:solidFill>
              <a:srgbClr val="805A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49040" y="2578608"/>
            <a:ext cx="1600200" cy="73152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697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05AD5"/>
                </a:solidFill>
              </a:rPr>
              <a:t>$5,131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749040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</a:rPr>
              <a:t>Avg Order Value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0" y="2578608"/>
            <a:ext cx="1600200" cy="1325880"/>
          </a:xfrm>
          <a:prstGeom prst="rect">
            <a:avLst/>
          </a:prstGeom>
          <a:solidFill>
            <a:srgbClr val="2A2A2A"/>
          </a:solidFill>
          <a:ln w="12700">
            <a:solidFill>
              <a:srgbClr val="C056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2578608"/>
            <a:ext cx="1600200" cy="73152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697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5621"/>
                </a:solidFill>
              </a:rPr>
              <a:t>$2,232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486400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</a:rPr>
              <a:t>Profit/Transaction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23760" y="2578608"/>
            <a:ext cx="1600200" cy="1325880"/>
          </a:xfrm>
          <a:prstGeom prst="rect">
            <a:avLst/>
          </a:prstGeom>
          <a:solidFill>
            <a:srgbClr val="2A2A2A"/>
          </a:solidFill>
          <a:ln w="12700">
            <a:solidFill>
              <a:srgbClr val="2B6C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2578608"/>
            <a:ext cx="16002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2697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6CB0"/>
                </a:solidFill>
              </a:rPr>
              <a:t>12,000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223760" y="3383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</a:rPr>
              <a:t>Customers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023360"/>
            <a:ext cx="28346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059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73A"/>
                </a:solidFill>
              </a:rPr>
              <a:t>Most Profitable Brand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Unibic — $13.97M Revenue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46120" y="4023360"/>
            <a:ext cx="28346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4059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73A"/>
                </a:solidFill>
              </a:rPr>
              <a:t>Top Sales Rep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Travis Doyle — 17.7% Revenue Share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4023360"/>
            <a:ext cx="28346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59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973A"/>
                </a:solidFill>
              </a:rPr>
              <a:t>Top City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San Antonio — $7.3M Revenue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B&amp;J Biscuit Company  |  Sales Performance Dashboard 2024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E8D1"/>
                </a:solidFill>
              </a:rPr>
              <a:t>TASK 4 — PRODUCT LEVEL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Revenue &amp; Profit by Biscuit Brand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20240" y="1069848"/>
            <a:ext cx="5120640" cy="2743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069848"/>
            <a:ext cx="5120640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2C2C"/>
                </a:solidFill>
              </a:rPr>
              <a:t>Unibic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0" y="10241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42"/>
                </a:solidFill>
              </a:rPr>
              <a:t>$14.0M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92440" y="10241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36%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" y="1060704"/>
            <a:ext cx="256032" cy="25603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" y="1060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1449324"/>
            <a:ext cx="5120640" cy="2743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1449324"/>
            <a:ext cx="424316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4036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2C2C"/>
                </a:solidFill>
              </a:rPr>
              <a:t>Little Hearts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0" y="14036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$11.6M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14036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36%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" y="1440180"/>
            <a:ext cx="256032" cy="256032"/>
          </a:xfrm>
          <a:prstGeom prst="ellipse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" y="14401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0240" y="1828800"/>
            <a:ext cx="5120640" cy="2743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1828800"/>
            <a:ext cx="3292034" cy="2743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2C2C"/>
                </a:solidFill>
              </a:rPr>
              <a:t>Oreo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0" y="1783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73A"/>
                </a:solidFill>
              </a:rPr>
              <a:t>$9.0M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92440" y="17830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50%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" y="1819656"/>
            <a:ext cx="256032" cy="256032"/>
          </a:xfrm>
          <a:prstGeom prst="ellipse">
            <a:avLst/>
          </a:prstGeom>
          <a:solidFill>
            <a:srgbClr val="CD7F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2208276"/>
            <a:ext cx="5120640" cy="2743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2208276"/>
            <a:ext cx="2420862" cy="274320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1625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2C2C"/>
                </a:solidFill>
              </a:rPr>
              <a:t>Tiger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32320" y="21625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5ACF"/>
                </a:solidFill>
              </a:rPr>
              <a:t>$6.6M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92440" y="21625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19%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20240" y="2587752"/>
            <a:ext cx="5120640" cy="2743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587752"/>
            <a:ext cx="2404925" cy="27432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5420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2C2C"/>
                </a:solidFill>
              </a:rPr>
              <a:t>Britannia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32320" y="25420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54"/>
                </a:solidFill>
              </a:rPr>
              <a:t>$6.6M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92440" y="25420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18%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920240" y="2967228"/>
            <a:ext cx="5120640" cy="2743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0240" y="2967228"/>
            <a:ext cx="149193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9215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2C2C"/>
                </a:solidFill>
              </a:rPr>
              <a:t>Malkist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32320" y="29215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$4.1M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92440" y="29215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29%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20240" y="3346704"/>
            <a:ext cx="5120640" cy="2743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20240" y="3346704"/>
            <a:ext cx="1259141" cy="274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30098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2C2C"/>
                </a:solidFill>
              </a:rPr>
              <a:t>Good Day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132320" y="33009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6CB0"/>
                </a:solidFill>
              </a:rPr>
              <a:t>$3.4M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92440" y="33009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9%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20240" y="3726180"/>
            <a:ext cx="5120640" cy="2743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20240" y="3726180"/>
            <a:ext cx="971320" cy="2743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6804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2C2C"/>
                </a:solidFill>
              </a:rPr>
              <a:t>Marie Gold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132320" y="36804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5621"/>
                </a:solidFill>
              </a:rPr>
              <a:t>$2.7M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92440" y="36804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920240" y="4105656"/>
            <a:ext cx="5120640" cy="2743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4105656"/>
            <a:ext cx="812863" cy="274320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05993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2C2C"/>
                </a:solidFill>
              </a:rPr>
              <a:t>Parle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132320" y="40599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5AD5"/>
                </a:solidFill>
              </a:rPr>
              <a:t>$2.2M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092440" y="40599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28%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920240" y="4485132"/>
            <a:ext cx="5120640" cy="27432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4485132"/>
            <a:ext cx="544472" cy="2743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4394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C2C2C"/>
                </a:solidFill>
              </a:rPr>
              <a:t>Sunfeast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132320" y="44394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$1.5M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092440" y="44394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40%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74320" y="9144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</a:rPr>
              <a:t>Brand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920240" y="91440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Revenue (Bar = Scale to $13.97M)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132320" y="914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Revenue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92440" y="914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Margin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B&amp;J Biscuit Company  |  Sales Performance Dashboard 2024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973A"/>
                </a:solidFill>
              </a:rPr>
              <a:t>TASK 5 — CUSTOMER &amp; DEMOGRAPHIC KPIs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Gender, Age Group &amp; Buyer Profiles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</a:rPr>
              <a:t>Sales by Gender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261872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6304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84.5%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Male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395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2578K units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1371600"/>
            <a:ext cx="1261872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146304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9.5%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20848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Female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45920" y="2395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288K units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1371600"/>
            <a:ext cx="1261872" cy="13716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0" y="1463040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6.0%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017520" y="20848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Other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7520" y="23957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184K units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8803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</a:rPr>
              <a:t>Units Sold by Age Group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264408"/>
            <a:ext cx="3200400" cy="201168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264408"/>
            <a:ext cx="3200400" cy="2011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75-89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69080" y="32461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5042"/>
                </a:solidFill>
              </a:rPr>
              <a:t>713K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3520440"/>
            <a:ext cx="3200400" cy="201168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520440"/>
            <a:ext cx="2236693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0215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49-58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69080" y="35021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498K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2960" y="3776472"/>
            <a:ext cx="3200400" cy="201168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3776472"/>
            <a:ext cx="2191974" cy="20116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7581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29-38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69080" y="37581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73A"/>
                </a:solidFill>
              </a:rPr>
              <a:t>488K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" y="4032504"/>
            <a:ext cx="3200400" cy="201168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4032504"/>
            <a:ext cx="2167457" cy="201168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0142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39-48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69080" y="40142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5ACF"/>
                </a:solidFill>
              </a:rPr>
              <a:t>483K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4288536"/>
            <a:ext cx="3200400" cy="201168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4288536"/>
            <a:ext cx="2084396" cy="201168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2702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59-68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069080" y="42702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54"/>
                </a:solidFill>
              </a:rPr>
              <a:t>464K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" y="4544568"/>
            <a:ext cx="3200400" cy="201168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4544568"/>
            <a:ext cx="1810567" cy="2011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5262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2C2C"/>
                </a:solidFill>
              </a:rPr>
              <a:t>18-28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069080" y="45262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</a:rPr>
              <a:t>403K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0" y="1389888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63440" y="142646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166360" y="14356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Top Age Group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166360" y="16642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75–89 yrs — 713K units sold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2103120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663440" y="213969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👨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166360" y="21488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Gender Dominance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166360" y="2377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Male buyers drive 84.5% of volume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0" y="2816352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663440" y="285292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166360" y="28620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Avg Revenue / Order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166360" y="3090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18–28 yrs: $5,041  |  75–89 yrs: $5,275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0" y="3529584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663440" y="35661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166360" y="35753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Highest Avg Revenue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166360" y="38039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29–38 age group: $5,320 per order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0" y="4242816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63440" y="427939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166360" y="42885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Youngest Segment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166360" y="45171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18–28: lowest qty (403K) — growth opportunity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B&amp;J Biscuit Company  |  Sales Performance Dashboard 2024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973A"/>
                </a:solidFill>
              </a:rPr>
              <a:t>TASK 6 — SALES REPRESENTATIVE KPIs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Revenue, Profit &amp; Contribution by Rep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Sales Rep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148840" y="10058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Revenue Bar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0" y="1005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Revenue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0" y="1005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Profit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973568" y="1005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Margin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03920" y="1005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Share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8595360" cy="27432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261872"/>
            <a:ext cx="1810512" cy="347472"/>
          </a:xfrm>
          <a:prstGeom prst="rect">
            <a:avLst/>
          </a:prstGeom>
          <a:solidFill>
            <a:srgbClr val="C997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280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 Travis Doyle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48840" y="1316736"/>
            <a:ext cx="4389120" cy="237744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1316736"/>
            <a:ext cx="4389120" cy="237744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2801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73A"/>
                </a:solidFill>
              </a:rPr>
              <a:t>$10.88M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12801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$4.78M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73568" y="128016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43.9%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12801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973A"/>
                </a:solidFill>
              </a:rPr>
              <a:t>17.7%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709928"/>
            <a:ext cx="1810512" cy="347472"/>
          </a:xfrm>
          <a:prstGeom prst="rect">
            <a:avLst/>
          </a:prstGeom>
          <a:solidFill>
            <a:srgbClr val="C0C0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7282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2. Joseph Hill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48840" y="1764792"/>
            <a:ext cx="4389120" cy="237744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1764792"/>
            <a:ext cx="4251644" cy="2377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72821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</a:rPr>
              <a:t>$10.54M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172821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$4.63M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73568" y="1728216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43.9%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172821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</a:rPr>
              <a:t>17.1%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157984"/>
            <a:ext cx="1810512" cy="347472"/>
          </a:xfrm>
          <a:prstGeom prst="rect">
            <a:avLst/>
          </a:prstGeom>
          <a:solidFill>
            <a:srgbClr val="CD7F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1762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3. April Watkins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148840" y="2212848"/>
            <a:ext cx="4389120" cy="237744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2212848"/>
            <a:ext cx="3793036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17627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$9.40M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21762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$3.99M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73568" y="217627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42.4%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21762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15.3%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606040"/>
            <a:ext cx="1810512" cy="34747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624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4. Susan Dean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148840" y="2660904"/>
            <a:ext cx="4389120" cy="237744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48840" y="2660904"/>
            <a:ext cx="3496172" cy="237744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26243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5ACF"/>
                </a:solidFill>
              </a:rPr>
              <a:t>$8.67M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0" y="26243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$3.81M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73568" y="262432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44%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03920" y="262432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5ACF"/>
                </a:solidFill>
              </a:rPr>
              <a:t>14.1%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054096"/>
            <a:ext cx="1810512" cy="34747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0723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5. Sara Robertson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48840" y="3108960"/>
            <a:ext cx="4389120" cy="237744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48840" y="3108960"/>
            <a:ext cx="3105158" cy="237744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07238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54"/>
                </a:solidFill>
              </a:rPr>
              <a:t>$7.70M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30723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$3.37M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73568" y="30723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43.8%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30723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54"/>
                </a:solidFill>
              </a:rPr>
              <a:t>12.5%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502152"/>
            <a:ext cx="1810512" cy="34747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6. Katie Stanton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148840" y="3557016"/>
            <a:ext cx="4389120" cy="237744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48840" y="3557016"/>
            <a:ext cx="2797893" cy="2377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35204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</a:rPr>
              <a:t>$6.94M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15200" y="35204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$3.05M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73568" y="352044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44%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503920" y="35204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A4F"/>
                </a:solidFill>
              </a:rPr>
              <a:t>11.3%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3950208"/>
            <a:ext cx="1810512" cy="34747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39684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7. Tracy Lee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148840" y="4005072"/>
            <a:ext cx="4389120" cy="237744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48840" y="4005072"/>
            <a:ext cx="237589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83680" y="396849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CB0"/>
                </a:solidFill>
              </a:rPr>
              <a:t>$5.89M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315200" y="39684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$2.46M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973568" y="3968496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41.7%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503920" y="39684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CB0"/>
                </a:solidFill>
              </a:rPr>
              <a:t>9.6%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4398264"/>
            <a:ext cx="1810512" cy="34747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416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8. Elizabeth Guerrero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148840" y="4453128"/>
            <a:ext cx="4389120" cy="237744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48840" y="4453128"/>
            <a:ext cx="626805" cy="23774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0" y="44165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</a:rPr>
              <a:t>$1.55M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315200" y="4416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</a:rPr>
              <a:t>$0.70M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973568" y="441655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45.1%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503920" y="441655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</a:rPr>
              <a:t>2.5%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74320" y="4624493"/>
            <a:ext cx="8595360" cy="182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462686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⚠ Elizabeth Guerrero at 2.5% share — significant underperformance vs. Travis Doyle (17.7%). Action recommended.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B&amp;J Biscuit Company  |  Sales Performance Dashboard 2024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E8D1"/>
                </a:solidFill>
              </a:rPr>
              <a:t>TASK 7 — LOCATION-BASED KPIs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Revenue, Profit &amp; Rankings by City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960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#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City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83280" y="960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Revenue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Profit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09360" y="960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Margin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223760" y="960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Qty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143000"/>
            <a:ext cx="8631936" cy="27432"/>
          </a:xfrm>
          <a:prstGeom prst="rect">
            <a:avLst/>
          </a:prstGeom>
          <a:solidFill>
            <a:srgbClr val="D4C5B0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207008"/>
            <a:ext cx="8631936" cy="310896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24358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5042"/>
                </a:solidFill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12435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San Antonio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1271016"/>
            <a:ext cx="2743200" cy="182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1271016"/>
            <a:ext cx="2743200" cy="182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2435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5042"/>
                </a:solidFill>
              </a:rPr>
              <a:t>$6.51M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76672" y="12435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$2.97M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12435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45.6%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59168" y="124358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305K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1563624"/>
            <a:ext cx="8631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60020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</a:rPr>
              <a:t>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16002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San Jose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91640" y="1627632"/>
            <a:ext cx="2743200" cy="182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91640" y="1627632"/>
            <a:ext cx="2662287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16002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$6.32M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76672" y="16002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$2.78M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63640" y="16002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43.9%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59168" y="160020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318K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1920240"/>
            <a:ext cx="8631936" cy="310896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19568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973A"/>
                </a:solidFill>
              </a:rPr>
              <a:t>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195681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</a:rPr>
              <a:t>Philadelphia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91640" y="1984248"/>
            <a:ext cx="2743200" cy="182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91640" y="1984248"/>
            <a:ext cx="2650323" cy="1828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19568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73A"/>
                </a:solidFill>
              </a:rPr>
              <a:t>$6.29M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76672" y="19568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$2.75M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195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43.7%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59168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318K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2276856"/>
            <a:ext cx="8631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231343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5ACF"/>
                </a:solidFill>
              </a:rPr>
              <a:t>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231343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Houston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91640" y="2340864"/>
            <a:ext cx="2743200" cy="182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91640" y="2340864"/>
            <a:ext cx="2602329" cy="182880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23134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5ACF"/>
                </a:solidFill>
              </a:rPr>
              <a:t>$6.18M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76672" y="23134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$2.55M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23134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41.2%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059168" y="23134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318K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2633472"/>
            <a:ext cx="8631936" cy="310896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26700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7B54"/>
                </a:solidFill>
              </a:rPr>
              <a:t>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2920" y="26700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Dallas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691640" y="2697480"/>
            <a:ext cx="2743200" cy="182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91640" y="2697480"/>
            <a:ext cx="2580692" cy="18288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267004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54"/>
                </a:solidFill>
              </a:rPr>
              <a:t>$6.13M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76672" y="267004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$2.72M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63640" y="26700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44.3%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059168" y="26700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298K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6032" y="2990088"/>
            <a:ext cx="8631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30266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</a:rPr>
              <a:t>6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02920" y="30266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Los Angeles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691640" y="3054096"/>
            <a:ext cx="2743200" cy="182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91640" y="3054096"/>
            <a:ext cx="2554648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30266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6A4F"/>
                </a:solidFill>
              </a:rPr>
              <a:t>$6.07M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376672" y="30266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$2.70M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263640" y="30266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44.5%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059168" y="30266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289K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56032" y="3346704"/>
            <a:ext cx="8631936" cy="310896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33832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6CB0"/>
                </a:solidFill>
              </a:rPr>
              <a:t>7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02920" y="33832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San Diego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691640" y="3410712"/>
            <a:ext cx="2743200" cy="182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91640" y="3410712"/>
            <a:ext cx="2541971" cy="1828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80560" y="33832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6CB0"/>
                </a:solidFill>
              </a:rPr>
              <a:t>$6.04M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376672" y="33832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$2.65M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263640" y="33832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43.9%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059168" y="33832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299K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56032" y="3703320"/>
            <a:ext cx="8631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37398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5621"/>
                </a:solidFill>
              </a:rPr>
              <a:t>8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02920" y="37398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New York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691640" y="3767328"/>
            <a:ext cx="2743200" cy="182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91640" y="3767328"/>
            <a:ext cx="2432587" cy="18288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80560" y="373989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5621"/>
                </a:solidFill>
              </a:rPr>
              <a:t>$5.78M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376672" y="373989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$2.48M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263640" y="37398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42.9%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059168" y="373989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292K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56032" y="4059936"/>
            <a:ext cx="8631936" cy="310896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40965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05AD5"/>
                </a:solidFill>
              </a:rPr>
              <a:t>9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02920" y="409651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Phoenix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691640" y="4123944"/>
            <a:ext cx="2743200" cy="182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691640" y="4123944"/>
            <a:ext cx="2404487" cy="182880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80560" y="4096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05AD5"/>
                </a:solidFill>
              </a:rPr>
              <a:t>$5.71M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5376672" y="4096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$2.41M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6263640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42.2%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059168" y="409651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286K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256032" y="4416552"/>
            <a:ext cx="8631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4320" y="44531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5568"/>
                </a:solidFill>
              </a:rPr>
              <a:t>10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502920" y="44531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</a:rPr>
              <a:t>Chicago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1691640" y="4480560"/>
            <a:ext cx="2743200" cy="18288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691640" y="4480560"/>
            <a:ext cx="2386147" cy="1828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80560" y="44531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8"/>
                </a:solidFill>
              </a:rPr>
              <a:t>$5.67M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5376672" y="44531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$2.38M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6263640" y="44531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42%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7059168" y="445312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284K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7699248" y="1207008"/>
            <a:ext cx="1188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7699248" y="1234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Gap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7699248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5042"/>
                </a:solidFill>
              </a:rPr>
              <a:t>$848K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7726680" y="201168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C2C"/>
                </a:solidFill>
              </a:rPr>
              <a:t>between #1 San Antonio &amp; #10 Chicago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726680" y="292608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Revenue range is tight — all cities within 15% of each other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B&amp;J Biscuit Company  |  Sales Performance Dashboard 2024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973A"/>
                </a:solidFill>
              </a:rPr>
              <a:t>TASK 8 — PAYMENT METHOD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Revenue, Orders &amp; Preferences by Payment Type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01168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Debit Card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25.37%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of Revenue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1828800" cy="16459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60320"/>
            <a:ext cx="182880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43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$15.62M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3017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3,008 orders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33006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C2C2C"/>
                </a:solidFill>
              </a:rPr>
              <a:t>AOV: $5,193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50592" y="1024128"/>
            <a:ext cx="201168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1024128"/>
            <a:ext cx="2011680" cy="502920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0424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Mobile Payment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50592" y="16002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D5ACF"/>
                </a:solidFill>
              </a:rPr>
              <a:t>25.11%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450592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of Revenue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42032" y="2560320"/>
            <a:ext cx="1828800" cy="16459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42032" y="2560320"/>
            <a:ext cx="1810245" cy="164592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0592" y="2743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5ACF"/>
                </a:solidFill>
              </a:rPr>
              <a:t>$15.46M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50592" y="3017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3,038 orders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50592" y="33006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C2C2C"/>
                </a:solidFill>
              </a:rPr>
              <a:t>AOV: $5,089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6864" y="1024128"/>
            <a:ext cx="201168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024128"/>
            <a:ext cx="201168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10424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Credit Card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26864" y="16002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5042"/>
                </a:solidFill>
              </a:rPr>
              <a:t>24.77%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626864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of Revenue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18304" y="2560320"/>
            <a:ext cx="1828800" cy="16459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18304" y="2560320"/>
            <a:ext cx="1785343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2743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5042"/>
                </a:solidFill>
              </a:rPr>
              <a:t>$15.25M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26864" y="3017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2,978 orders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26864" y="33006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C2C2C"/>
                </a:solidFill>
              </a:rPr>
              <a:t>AOV: $5,121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03136" y="1024128"/>
            <a:ext cx="201168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03136" y="1024128"/>
            <a:ext cx="2011680" cy="50292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8856" y="10424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Cash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03136" y="16002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B54"/>
                </a:solidFill>
              </a:rPr>
              <a:t>24.75%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803136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of Revenue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4576" y="2560320"/>
            <a:ext cx="1828800" cy="16459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94576" y="2560320"/>
            <a:ext cx="1783968" cy="164592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2743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B54"/>
                </a:solidFill>
              </a:rPr>
              <a:t>$15.24M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03136" y="3017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2,976 orders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03136" y="33006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C2C2C"/>
                </a:solidFill>
              </a:rPr>
              <a:t>AOV: $5,120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611880"/>
            <a:ext cx="8595360" cy="1005840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</a:rPr>
              <a:t>📊  Key Insight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39502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</a:rPr>
              <a:t>Revenue is nearly perfectly distributed across all 4 payment methods (24.75%–25.37%), indicating no single dominant preference. Debit Card leads slightly with $15.6M. All payment channels should be maintained and equally promoted. No single payment type shows a significant drop-off, suggesting broad customer adaptability.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B&amp;J Biscuit Company  |  Sales Performance Dashboard 2024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2E27"/>
                </a:solidFill>
              </a:rPr>
              <a:t>SALES TRENDS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2E27"/>
                </a:solidFill>
              </a:rPr>
              <a:t>Monthly Revenue &amp; Quarterly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971115" y="101955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</a:rPr>
              <a:t>Monthly Revenue Trend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66928" cy="228600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EEAD4"/>
                </a:solidFill>
              </a:rPr>
              <a:t>$7.7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43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Jan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60120" y="1500881"/>
            <a:ext cx="566928" cy="1973839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72281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EEAD4"/>
                </a:solidFill>
              </a:rPr>
              <a:t>$6.6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601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Feb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0" y="1511628"/>
            <a:ext cx="566928" cy="196309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12830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EEAD4"/>
                </a:solidFill>
              </a:rPr>
              <a:t>$6.6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6459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Mar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1411988"/>
            <a:ext cx="566928" cy="206273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11833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EEAD4"/>
                </a:solidFill>
              </a:rPr>
              <a:t>$6.9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317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Apr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17520" y="1742436"/>
            <a:ext cx="566928" cy="1732284"/>
          </a:xfrm>
          <a:prstGeom prst="rect">
            <a:avLst/>
          </a:prstGeom>
          <a:solidFill>
            <a:srgbClr val="A3E4D7"/>
          </a:solidFill>
          <a:ln w="12700">
            <a:solidFill>
              <a:srgbClr val="A3E4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5138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3E4D7"/>
                </a:solidFill>
              </a:rPr>
              <a:t>$5.8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0175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May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03320" y="1833383"/>
            <a:ext cx="566928" cy="1641337"/>
          </a:xfrm>
          <a:prstGeom prst="rect">
            <a:avLst/>
          </a:prstGeom>
          <a:solidFill>
            <a:srgbClr val="A3E4D7"/>
          </a:solidFill>
          <a:ln w="12700">
            <a:solidFill>
              <a:srgbClr val="A3E4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1604783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3E4D7"/>
                </a:solidFill>
              </a:rPr>
              <a:t>$5.5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7033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Jun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89120" y="1831123"/>
            <a:ext cx="566928" cy="1643597"/>
          </a:xfrm>
          <a:prstGeom prst="rect">
            <a:avLst/>
          </a:prstGeom>
          <a:solidFill>
            <a:srgbClr val="A3E4D7"/>
          </a:solidFill>
          <a:ln w="12700">
            <a:solidFill>
              <a:srgbClr val="A3E4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602523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3E4D7"/>
                </a:solidFill>
              </a:rPr>
              <a:t>$5.5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891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Jul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74920" y="2874081"/>
            <a:ext cx="566928" cy="600639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645481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54"/>
                </a:solidFill>
              </a:rPr>
              <a:t>$2.0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749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Aug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60720" y="2837460"/>
            <a:ext cx="566928" cy="63726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6088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54"/>
                </a:solidFill>
              </a:rPr>
              <a:t>$2.1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7607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Sep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46520" y="2939956"/>
            <a:ext cx="566928" cy="534764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7113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54"/>
                </a:solidFill>
              </a:rPr>
              <a:t>$1.8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4465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Oct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32320" y="2931044"/>
            <a:ext cx="566928" cy="543676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27024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54"/>
                </a:solidFill>
              </a:rPr>
              <a:t>$1.8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1323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Nov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818120" y="2890720"/>
            <a:ext cx="566928" cy="58400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2662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B54"/>
                </a:solidFill>
              </a:rPr>
              <a:t>$2.0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818120" y="34930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Dec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474720"/>
            <a:ext cx="8229600" cy="2743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794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</a:rPr>
              <a:t>📈 Peak: Jan ($7.7M) &amp; Apr ($6.9M)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97680" y="3794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54"/>
                </a:solidFill>
              </a:rPr>
              <a:t>📉 Drop: Aug–Dec (avg ~$1.9M/month)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E8D1"/>
                </a:solidFill>
              </a:rPr>
              <a:t>Quarterly Revenue Split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462272"/>
            <a:ext cx="20116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4480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Q1: 35.9%  $22.1M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450592" y="4462272"/>
            <a:ext cx="2011680" cy="32004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05456" y="4480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Q2: 29.5%  $18.2M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26864" y="4462272"/>
            <a:ext cx="2011680" cy="320040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4480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Q3: 24.3%  $15.0M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03136" y="4462272"/>
            <a:ext cx="2011680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4480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Q4: 10.3%  $6.3M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B&amp;J Biscuit Company  |  Sales Performance Dashboard 2024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973A"/>
                </a:solidFill>
              </a:rPr>
              <a:t>SDD — SUMMARY, DECISIONS &amp; 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Insights from the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283464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2834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Summary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15184" cy="530352"/>
          </a:xfrm>
          <a:prstGeom prst="rect">
            <a:avLst/>
          </a:prstGeom>
          <a:solidFill>
            <a:srgbClr val="FAF8F5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6093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Sales strong in Q1 &amp; Q2 — collapse in Q4 threatens annual stability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2615184" cy="53035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21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Revenue concentrated in premium products (Unibic, Little Hearts)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779776"/>
            <a:ext cx="2615184" cy="530352"/>
          </a:xfrm>
          <a:prstGeom prst="rect">
            <a:avLst/>
          </a:prstGeom>
          <a:solidFill>
            <a:srgbClr val="FAF8F5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8163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Top cities account for majority of revenue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2615184" cy="53035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4198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Travis Doyle dominates at 17.7% — high single-rep dependency risk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86784"/>
            <a:ext cx="2615184" cy="530352"/>
          </a:xfrm>
          <a:prstGeom prst="rect">
            <a:avLst/>
          </a:prstGeom>
          <a:solidFill>
            <a:srgbClr val="FAF8F5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75–89 age group is the largest buyer segment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27832" y="987552"/>
            <a:ext cx="283464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987552"/>
            <a:ext cx="2834640" cy="47548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2E27"/>
                </a:solidFill>
              </a:rPr>
              <a:t>✅  Decisions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572768"/>
            <a:ext cx="2615184" cy="530352"/>
          </a:xfrm>
          <a:prstGeom prst="rect">
            <a:avLst/>
          </a:prstGeom>
          <a:solidFill>
            <a:srgbClr val="FAF8F5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16093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Launch Q4 promotional campaigns to stabilize seasonal sales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2176272"/>
            <a:ext cx="2615184" cy="53035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92424" y="221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Train or incentivize underperforming reps (Elizabeth Guerrero)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779776"/>
            <a:ext cx="2615184" cy="530352"/>
          </a:xfrm>
          <a:prstGeom prst="rect">
            <a:avLst/>
          </a:prstGeom>
          <a:solidFill>
            <a:srgbClr val="FAF8F5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28163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Expand into new cities to reduce geographic concentration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3383280"/>
            <a:ext cx="2615184" cy="53035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4198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Introduce mid-priced products to capture younger (18–28) buyers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3986784"/>
            <a:ext cx="2615184" cy="530352"/>
          </a:xfrm>
          <a:prstGeom prst="rect">
            <a:avLst/>
          </a:prstGeom>
          <a:solidFill>
            <a:srgbClr val="FAF8F5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2424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Rebrand or discontinue underperforming Sunfeast ($1.5M revenue)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99632" y="987552"/>
            <a:ext cx="283464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987552"/>
            <a:ext cx="2834640" cy="4754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Recommendations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1572768"/>
            <a:ext cx="2615184" cy="530352"/>
          </a:xfrm>
          <a:prstGeom prst="rect">
            <a:avLst/>
          </a:prstGeom>
          <a:solidFill>
            <a:srgbClr val="FAF8F5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16093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Investigate Q4 revenue drop — check campaign history &amp; distribution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2176272"/>
            <a:ext cx="2615184" cy="53035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21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Implement performance incentives to reduce rep concentration risk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2779776"/>
            <a:ext cx="2615184" cy="530352"/>
          </a:xfrm>
          <a:prstGeom prst="rect">
            <a:avLst/>
          </a:prstGeom>
          <a:solidFill>
            <a:srgbClr val="FAF8F5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28163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Increase digital payment promotions (Mobile Payment growing)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3383280"/>
            <a:ext cx="2615184" cy="530352"/>
          </a:xfrm>
          <a:prstGeom prst="rect">
            <a:avLst/>
          </a:prstGeom>
          <a:solidFill>
            <a:srgbClr val="E7E8D1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64224" y="34198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Target 29–38 age group with premium bundles ($5,320 avg order)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09360" y="3986784"/>
            <a:ext cx="2615184" cy="530352"/>
          </a:xfrm>
          <a:prstGeom prst="rect">
            <a:avLst/>
          </a:prstGeom>
          <a:solidFill>
            <a:srgbClr val="FAF8F5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</a:rPr>
              <a:t>Consider geographic expansion beyond 10 current cities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B&amp;J Biscuit Company  |  Sales Performance Dashboard 2024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973A"/>
                </a:solidFill>
              </a:rPr>
              <a:t>BUSINESS QUESTIONS &amp; TECHNICAL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Questions for Stakeholders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</a:rPr>
              <a:t>❓ Key Questions for the Business Owner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73152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4475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2646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</a:rPr>
              <a:t>Were Q4 holiday campaigns or discounts launched last year?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29968"/>
            <a:ext cx="73152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8483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0665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</a:rPr>
              <a:t>Are there distribution gaps in low-performing cities like Chicago?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70048"/>
            <a:ext cx="73152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2491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</a:rPr>
              <a:t>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70662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</a:rPr>
              <a:t>Why is Sunfeast consistently underperforming ($1.49M)?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310128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10128"/>
            <a:ext cx="73152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6499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3467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</a:rPr>
              <a:t>Should we target younger demographics with smaller / cheaper packs?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950208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950208"/>
            <a:ext cx="73152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0507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</a:rPr>
              <a:t>Q5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9867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</a:rPr>
              <a:t>What is our contingency plan if Travis Doyle exits or premium demand slows?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0644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</a:rPr>
              <a:t>🛠 Technical Stack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06440" y="1389888"/>
            <a:ext cx="1371600" cy="47548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06440" y="14081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Excel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69480" y="1389888"/>
            <a:ext cx="13716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69480" y="14081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Pivot Tables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06440" y="1965960"/>
            <a:ext cx="1371600" cy="47548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06440" y="19842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XLOOKUP / VLOOKUP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69480" y="1965960"/>
            <a:ext cx="1371600" cy="475488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69480" y="19842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Charts (7 types)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06440" y="2542032"/>
            <a:ext cx="1371600" cy="475488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06440" y="25603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69480" y="2542032"/>
            <a:ext cx="13716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69480" y="25603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Cleaning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06440" y="3118104"/>
            <a:ext cx="1371600" cy="47548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06440" y="31363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Conditional Formatting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69480" y="3118104"/>
            <a:ext cx="1371600" cy="47548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269480" y="31363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Slicers &amp; Timeline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06440" y="3694176"/>
            <a:ext cx="1371600" cy="475488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806440" y="37124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Regression Analysis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69480" y="3694176"/>
            <a:ext cx="1371600" cy="47548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269480" y="37124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Calculated Columns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B&amp;J Biscuit Company  |  Sales Performance Dashboard 2024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2468880" cy="246888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777240"/>
            <a:ext cx="1920240" cy="1920240"/>
          </a:xfrm>
          <a:prstGeom prst="ellipse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73A"/>
                </a:solidFill>
              </a:rPr>
              <a:t>B&amp;J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74320" y="3200400"/>
            <a:ext cx="1371600" cy="713232"/>
          </a:xfrm>
          <a:prstGeom prst="rect">
            <a:avLst/>
          </a:prstGeom>
          <a:solidFill>
            <a:srgbClr val="B85042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73A"/>
                </a:solidFill>
              </a:rPr>
              <a:t>$61.6M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3630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8D1"/>
                </a:solidFill>
              </a:rPr>
              <a:t>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83080" y="3200400"/>
            <a:ext cx="1371600" cy="713232"/>
          </a:xfrm>
          <a:prstGeom prst="rect">
            <a:avLst/>
          </a:prstGeom>
          <a:solidFill>
            <a:srgbClr val="B85042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73A"/>
                </a:solidFill>
              </a:rPr>
              <a:t>43.5%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3630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8D1"/>
                </a:solidFill>
              </a:rPr>
              <a:t>Margin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005072"/>
            <a:ext cx="1371600" cy="713232"/>
          </a:xfrm>
          <a:prstGeom prst="rect">
            <a:avLst/>
          </a:prstGeom>
          <a:solidFill>
            <a:srgbClr val="B85042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050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73A"/>
                </a:solidFill>
              </a:rPr>
              <a:t>12K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8D1"/>
                </a:solidFill>
              </a:rPr>
              <a:t>Orders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83080" y="4005072"/>
            <a:ext cx="1371600" cy="713232"/>
          </a:xfrm>
          <a:prstGeom prst="rect">
            <a:avLst/>
          </a:prstGeom>
          <a:solidFill>
            <a:srgbClr val="B85042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4050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73A"/>
                </a:solidFill>
              </a:rPr>
              <a:t>10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434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7E8D1"/>
                </a:solidFill>
              </a:rPr>
              <a:t>Brands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914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20" name="Shape 18"/>
          <p:cNvSpPr/>
          <p:nvPr/>
        </p:nvSpPr>
        <p:spPr>
          <a:xfrm>
            <a:off x="4206240" y="1901952"/>
            <a:ext cx="4206240" cy="54864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08483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3A"/>
                </a:solidFill>
              </a:rPr>
              <a:t>B&amp;J Biscuit Company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49040" y="2578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7E8D1"/>
                </a:solidFill>
              </a:rPr>
              <a:t>Sales Performance Analysis Project — 2024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154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4C5B0"/>
                </a:solidFill>
              </a:rPr>
              <a:t>10 Tasks  ·  Data Cleaning to Interactive Dashboard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4C5B0"/>
                </a:solidFill>
              </a:rPr>
              <a:t>Excel  |  Pivot Tables  |  Charts  |  KPI Dashboards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2E27"/>
          </a:solidFill>
          <a:ln w="12700">
            <a:solidFill>
              <a:srgbClr val="7A2E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8D1"/>
                </a:solidFill>
              </a:rPr>
              <a:t>Excel  |  Pivot Tables  |  Charts  |  Dashboard  |  Data Cleaning  |  Regression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1342</Words>
  <Application>Microsoft Office PowerPoint</Application>
  <PresentationFormat>On-screen Show (16:9)</PresentationFormat>
  <Paragraphs>398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B&amp;J Biscuit Company — Sales Dashboard 2024</dc:title>
  <dc:subject>PptxGenJS Presentation</dc:subject>
  <dc:creator>PptxGenJS</dc:creator>
  <cp:lastModifiedBy>Devi Balaji</cp:lastModifiedBy>
  <cp:revision>4</cp:revision>
  <dcterms:created xsi:type="dcterms:W3CDTF">2026-03-11T13:04:32Z</dcterms:created>
  <dcterms:modified xsi:type="dcterms:W3CDTF">2026-03-12T13:42:43Z</dcterms:modified>
</cp:coreProperties>
</file>