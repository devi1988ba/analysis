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A4A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E2A4A"/>
                </a:solidFill>
                <a:latin typeface="Arial"/>
              </a:rPr>
              <a:t>Leakage by Source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Leakage%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5C-4C66-9F4C-3D99125F7A89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5C-4C66-9F4C-3D99125F7A89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5C-4C66-9F4C-3D99125F7A89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35C-4C66-9F4C-3D99125F7A8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Returns</c:v>
                </c:pt>
                <c:pt idx="1">
                  <c:v>Discounts</c:v>
                </c:pt>
                <c:pt idx="2">
                  <c:v>Fees</c:v>
                </c:pt>
                <c:pt idx="3">
                  <c:v>Logistics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17.64</c:v>
                </c:pt>
                <c:pt idx="1">
                  <c:v>7.48</c:v>
                </c:pt>
                <c:pt idx="2">
                  <c:v>2.2000000000000002</c:v>
                </c:pt>
                <c:pt idx="3">
                  <c:v>1.52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35C-4C66-9F4C-3D99125F7A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4A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1E2A4A"/>
                </a:solidFill>
                <a:latin typeface="Arial"/>
              </a:rPr>
              <a:t>Profit Margin %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EF-48F2-832B-40140440E81D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EF-48F2-832B-40140440E81D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EF-48F2-832B-40140440E81D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EF-48F2-832B-40140440E81D}"/>
              </c:ext>
            </c:extLst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0EF-48F2-832B-40140440E81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Fashion</c:v>
                </c:pt>
                <c:pt idx="1">
                  <c:v>Electronics</c:v>
                </c:pt>
                <c:pt idx="2">
                  <c:v>Beauty</c:v>
                </c:pt>
                <c:pt idx="3">
                  <c:v>Grocery</c:v>
                </c:pt>
                <c:pt idx="4">
                  <c:v>Home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27.78</c:v>
                </c:pt>
                <c:pt idx="1">
                  <c:v>29.09</c:v>
                </c:pt>
                <c:pt idx="2">
                  <c:v>29.61</c:v>
                </c:pt>
                <c:pt idx="3">
                  <c:v>31.48</c:v>
                </c:pt>
                <c:pt idx="4">
                  <c:v>32.659999999999997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0EF-48F2-832B-40140440E8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A4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2A4A"/>
                </a:solidFill>
                <a:latin typeface="Arial"/>
              </a:rPr>
              <a:t>Avg Profit: Discounted vs Non-Discounted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(₹)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15-4A29-BE73-35BBFAE8C311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15-4A29-BE73-35BBFAE8C31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Non-Discounted</c:v>
                </c:pt>
                <c:pt idx="1">
                  <c:v>Discounted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1115.94</c:v>
                </c:pt>
                <c:pt idx="1">
                  <c:v>655.04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15-4A29-BE73-35BBFAE8C3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4A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1E2A4A"/>
                </a:solidFill>
                <a:latin typeface="Arial"/>
              </a:rPr>
              <a:t>Payment Fee Share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AD6-4AF2-866B-77A266DC716B}"/>
              </c:ext>
            </c:extLst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D6-4AF2-866B-77A266DC716B}"/>
              </c:ext>
            </c:extLst>
          </c:dPt>
          <c:dPt>
            <c:idx val="2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D6-4AF2-866B-77A266DC716B}"/>
              </c:ext>
            </c:extLst>
          </c:dPt>
          <c:dPt>
            <c:idx val="3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AD6-4AF2-866B-77A266DC716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AD6-4AF2-866B-77A266DC716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AD6-4AF2-866B-77A266DC716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AD6-4AF2-866B-77A266DC716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AD6-4AF2-866B-77A266DC716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COD 39.93%</c:v>
                </c:pt>
                <c:pt idx="1">
                  <c:v>WALLET 23.39%</c:v>
                </c:pt>
                <c:pt idx="2">
                  <c:v>CARD 22.84%</c:v>
                </c:pt>
                <c:pt idx="3">
                  <c:v>UPI 13.85%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39.93</c:v>
                </c:pt>
                <c:pt idx="1">
                  <c:v>23.39</c:v>
                </c:pt>
                <c:pt idx="2">
                  <c:v>22.84</c:v>
                </c:pt>
                <c:pt idx="3">
                  <c:v>13.85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AD6-4AF2-866B-77A266DC7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800" b="0" i="0" u="none" strike="noStrike">
                <a:solidFill>
                  <a:srgbClr val="1E2A4A"/>
                </a:solidFill>
                <a:latin typeface="Arial"/>
              </a:defRPr>
            </a:pPr>
            <a:r>
              <a:rPr lang="en-US" sz="800" b="0" i="0" u="none" strike="noStrike">
                <a:solidFill>
                  <a:srgbClr val="1E2A4A"/>
                </a:solidFill>
                <a:latin typeface="Arial"/>
              </a:rPr>
              <a:t>Leakage Amount by Source (₹ Lakhs)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(₹ Lakhs)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4CE-47CE-84A3-F6C4FDB6C445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CE-47CE-84A3-F6C4FDB6C445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4CE-47CE-84A3-F6C4FDB6C445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4CE-47CE-84A3-F6C4FDB6C44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Returns</c:v>
                </c:pt>
                <c:pt idx="1">
                  <c:v>Discounts</c:v>
                </c:pt>
                <c:pt idx="2">
                  <c:v>Fees</c:v>
                </c:pt>
                <c:pt idx="3">
                  <c:v>Logistics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88.1</c:v>
                </c:pt>
                <c:pt idx="1">
                  <c:v>37.35</c:v>
                </c:pt>
                <c:pt idx="2">
                  <c:v>10.97</c:v>
                </c:pt>
                <c:pt idx="3">
                  <c:v>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4CE-47CE-84A3-F6C4FDB6C4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A4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2A4A"/>
                </a:solidFill>
                <a:latin typeface="Arial"/>
              </a:rPr>
              <a:t>Pareto: Cumulative Profit % by Product Tier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Profit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791-42B0-ACD6-2D33B95DE3A0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91-42B0-ACD6-2D33B95DE3A0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791-42B0-ACD6-2D33B95DE3A0}"/>
              </c:ext>
            </c:extLst>
          </c:dPt>
          <c:dPt>
            <c:idx val="3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791-42B0-ACD6-2D33B95DE3A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Top 7.2%</c:v>
                </c:pt>
                <c:pt idx="1">
                  <c:v>Top 15.3%</c:v>
                </c:pt>
                <c:pt idx="2">
                  <c:v>Top 32.7%</c:v>
                </c:pt>
                <c:pt idx="3">
                  <c:v>All (80.1%)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29.3</c:v>
                </c:pt>
                <c:pt idx="1">
                  <c:v>50</c:v>
                </c:pt>
                <c:pt idx="2">
                  <c:v>80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791-42B0-ACD6-2D33B95DE3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A4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2A4A"/>
                </a:solidFill>
                <a:latin typeface="Arial"/>
              </a:rPr>
              <a:t>Margin Std Dev — With vs Without Returns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Std Dev All Orders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Fashion</c:v>
                </c:pt>
                <c:pt idx="1">
                  <c:v>Grocery</c:v>
                </c:pt>
                <c:pt idx="2">
                  <c:v>Home</c:v>
                </c:pt>
                <c:pt idx="3">
                  <c:v>Beauty</c:v>
                </c:pt>
                <c:pt idx="4">
                  <c:v>Electronics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82.48</c:v>
                </c:pt>
                <c:pt idx="1">
                  <c:v>80.239999999999995</c:v>
                </c:pt>
                <c:pt idx="2">
                  <c:v>79.06</c:v>
                </c:pt>
                <c:pt idx="3">
                  <c:v>63.03</c:v>
                </c:pt>
                <c:pt idx="4">
                  <c:v>62.55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F1-4561-AD66-FD30AE58BD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Std Dev Ex-Returns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Fashion</c:v>
                </c:pt>
                <c:pt idx="1">
                  <c:v>Grocery</c:v>
                </c:pt>
                <c:pt idx="2">
                  <c:v>Home</c:v>
                </c:pt>
                <c:pt idx="3">
                  <c:v>Beauty</c:v>
                </c:pt>
                <c:pt idx="4">
                  <c:v>Electronics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82.93</c:v>
                </c:pt>
                <c:pt idx="1">
                  <c:v>79.5</c:v>
                </c:pt>
                <c:pt idx="2">
                  <c:v>78.900000000000006</c:v>
                </c:pt>
                <c:pt idx="3">
                  <c:v>57.03</c:v>
                </c:pt>
                <c:pt idx="4">
                  <c:v>56.96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F1-4561-AD66-FD30AE58BD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A4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1E2A4A"/>
                </a:solidFill>
                <a:latin typeface="Arial"/>
              </a:rPr>
              <a:t>Monthly Margin%: Electronics vs Home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Electronics</c:v>
                </c:pt>
              </c:strCache>
            </c:strRef>
          </c:tx>
          <c:spPr>
            <a:ln w="190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21.39</c:v>
                </c:pt>
                <c:pt idx="1">
                  <c:v>21.03</c:v>
                </c:pt>
                <c:pt idx="2">
                  <c:v>14.78</c:v>
                </c:pt>
                <c:pt idx="3">
                  <c:v>23.12</c:v>
                </c:pt>
                <c:pt idx="4">
                  <c:v>26.47</c:v>
                </c:pt>
                <c:pt idx="5">
                  <c:v>29.54</c:v>
                </c:pt>
                <c:pt idx="6">
                  <c:v>19.579999999999998</c:v>
                </c:pt>
                <c:pt idx="7">
                  <c:v>23.19</c:v>
                </c:pt>
                <c:pt idx="8">
                  <c:v>16.79</c:v>
                </c:pt>
                <c:pt idx="9">
                  <c:v>26.08</c:v>
                </c:pt>
                <c:pt idx="10">
                  <c:v>25.7</c:v>
                </c:pt>
                <c:pt idx="11">
                  <c:v>23.35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512-4145-ADD4-DD0BC8B147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Home</c:v>
                </c:pt>
              </c:strCache>
            </c:strRef>
          </c:tx>
          <c:spPr>
            <a:ln w="1905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30.88</c:v>
                </c:pt>
                <c:pt idx="1">
                  <c:v>34.53</c:v>
                </c:pt>
                <c:pt idx="2">
                  <c:v>27.29</c:v>
                </c:pt>
                <c:pt idx="3">
                  <c:v>20.239999999999998</c:v>
                </c:pt>
                <c:pt idx="4">
                  <c:v>28.55</c:v>
                </c:pt>
                <c:pt idx="5">
                  <c:v>20.62</c:v>
                </c:pt>
                <c:pt idx="6">
                  <c:v>22.83</c:v>
                </c:pt>
                <c:pt idx="7">
                  <c:v>14.75</c:v>
                </c:pt>
                <c:pt idx="8">
                  <c:v>29.77</c:v>
                </c:pt>
                <c:pt idx="9">
                  <c:v>29.88</c:v>
                </c:pt>
                <c:pt idx="10">
                  <c:v>23.68</c:v>
                </c:pt>
                <c:pt idx="11">
                  <c:v>19.5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512-4145-ADD4-DD0BC8B147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4A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1E2A4A"/>
                </a:solidFill>
                <a:latin typeface="Arial"/>
              </a:rPr>
              <a:t>Customer Risk Segmentation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CC9-42BC-A0EB-160E18EEF04B}"/>
              </c:ext>
            </c:extLst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C9-42BC-A0EB-160E18EEF04B}"/>
              </c:ext>
            </c:extLst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C9-42BC-A0EB-160E18EEF04B}"/>
              </c:ext>
            </c:extLst>
          </c:dPt>
          <c:dPt>
            <c:idx val="3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CC9-42BC-A0EB-160E18EEF04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C9-42BC-A0EB-160E18EEF04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C9-42BC-A0EB-160E18EEF04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C9-42BC-A0EB-160E18EEF04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CC9-42BC-A0EB-160E18EEF04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ZERO RETURNS 72.72%</c:v>
                </c:pt>
                <c:pt idx="1">
                  <c:v>HIGH RISK 19.33%</c:v>
                </c:pt>
                <c:pt idx="2">
                  <c:v>ABOVE AVG 7.22%</c:v>
                </c:pt>
                <c:pt idx="3">
                  <c:v>NORMAL 0.73%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72.72</c:v>
                </c:pt>
                <c:pt idx="1">
                  <c:v>19.329999999999998</c:v>
                </c:pt>
                <c:pt idx="2">
                  <c:v>7.22</c:v>
                </c:pt>
                <c:pt idx="3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CC9-42BC-A0EB-160E18EEF0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4A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A4A"/>
                </a:solidFill>
                <a:latin typeface="Arial"/>
              </a:rPr>
              <a:t>Monthly Net Profit Margin % (2024)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Margin %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31.77</c:v>
                </c:pt>
                <c:pt idx="1">
                  <c:v>26.75</c:v>
                </c:pt>
                <c:pt idx="2">
                  <c:v>27.55</c:v>
                </c:pt>
                <c:pt idx="3">
                  <c:v>29.32</c:v>
                </c:pt>
                <c:pt idx="4">
                  <c:v>32.07</c:v>
                </c:pt>
                <c:pt idx="5">
                  <c:v>30.29</c:v>
                </c:pt>
                <c:pt idx="6">
                  <c:v>28.14</c:v>
                </c:pt>
                <c:pt idx="7">
                  <c:v>28.97</c:v>
                </c:pt>
                <c:pt idx="8">
                  <c:v>32.18</c:v>
                </c:pt>
                <c:pt idx="9">
                  <c:v>30.56</c:v>
                </c:pt>
                <c:pt idx="10">
                  <c:v>31.65</c:v>
                </c:pt>
                <c:pt idx="11">
                  <c:v>27.46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35D-4B9F-BA34-576C3FB337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8103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20700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Gap Analysis using SQL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7556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Documentation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212848"/>
            <a:ext cx="155448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2677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2688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2212848"/>
            <a:ext cx="155448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22677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2688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03320" y="2212848"/>
            <a:ext cx="155448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2677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03320" y="2688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94960" y="2212848"/>
            <a:ext cx="155448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22677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94960" y="2688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86600" y="2212848"/>
            <a:ext cx="155448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22677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86600" y="26883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4474845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E-Commerce Analytics  |  Tool: MySQL  |  Skills: DDL · DML · Joins · CTEs · Window Functions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8288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292608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Goals &amp; Business Context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66928"/>
            <a:ext cx="8814816" cy="685800"/>
          </a:xfrm>
          <a:prstGeom prst="rect">
            <a:avLst/>
          </a:prstGeom>
          <a:solidFill>
            <a:srgbClr val="1E2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566928"/>
            <a:ext cx="9144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5852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" y="786384"/>
            <a:ext cx="8631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marketplaces show healthy sales but declining profits — hidden factors like excessive discounts, high returns, logistics costs and payment fees silently erode margins.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1344168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344168"/>
            <a:ext cx="28346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4356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" y="16733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losses from discounts, returns, logistics &amp; fees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1344168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344168"/>
            <a:ext cx="28346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4356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Profitability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16733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products/categories profit vs lose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53328" y="1344168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53328" y="1344168"/>
            <a:ext cx="283464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43560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44768" y="16733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reverse logistics margin impact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2212848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64592" y="2212848"/>
            <a:ext cx="2834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23042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Effectiveness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6032" y="25420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discounts actually improve profitability?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212848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08960" y="2212848"/>
            <a:ext cx="28346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3042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Impact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25420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 of each payment gateway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53328" y="2212848"/>
            <a:ext cx="2834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53328" y="2212848"/>
            <a:ext cx="28346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23042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Support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44768" y="25420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pricing, promotions &amp; operations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4942332"/>
            <a:ext cx="8778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SQL Project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8288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6 Tables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292608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with PK, FK, Constraints &amp; ER Relationships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594360"/>
            <a:ext cx="28346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" y="6309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84832" y="64922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E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rows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7744" y="941832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product_id(PK), category, brand, supplier_id, cost_price, mrp, weight_kg, launch_date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08960" y="59436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594360"/>
            <a:ext cx="2834640" cy="29260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6309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64922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E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22,000 rows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82112" y="941832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order_id(PK), product_id(FK), customer_id, quantity, selling_price, payment_method, order_status, order_channel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53328" y="594360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53328" y="594360"/>
            <a:ext cx="283464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6309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73568" y="64922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E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 rows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941832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discount_id(PK), order_id(FK-UNIQUE), discount_amount, discount_type, coupon_code, is_stackable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64592" y="2221992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4592" y="2221992"/>
            <a:ext cx="283464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" y="22585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84832" y="227685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E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rows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7744" y="2569464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return_id(PK), order_id(FK-UNIQUE), return_reason, refund_mode, refund_status, customer_fault_flag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08960" y="2221992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08960" y="2221992"/>
            <a:ext cx="283464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82112" y="22585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logistics_cost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227685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E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13,000 rows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82112" y="2569464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logistics_id(PK), order_id(FK-UNIQUE), shipping_cost, reverse_shipping_cost, delivery_days, delivery_status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53328" y="2221992"/>
            <a:ext cx="28346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53328" y="2221992"/>
            <a:ext cx="28346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25856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payment_fees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73568" y="227685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E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rows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2569464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payment_method(PK), fee_percentage, settlement_days — Lookup table for gateway fee rates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64592" y="4713732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ER: products(1)→orders(N)→discounts/returns/logistics_cost(1:0..1)  |  payment_fees(1)→orders(N)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4942332"/>
            <a:ext cx="8778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SQL Project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3BD936-0FBD-2437-482D-7158D5E342B8}"/>
              </a:ext>
            </a:extLst>
          </p:cNvPr>
          <p:cNvSpPr/>
          <p:nvPr/>
        </p:nvSpPr>
        <p:spPr>
          <a:xfrm>
            <a:off x="0" y="0"/>
            <a:ext cx="9144000" cy="352213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FC8BEFED-159F-6366-BE6A-E1510CD2FA0C}"/>
              </a:ext>
            </a:extLst>
          </p:cNvPr>
          <p:cNvSpPr/>
          <p:nvPr/>
        </p:nvSpPr>
        <p:spPr>
          <a:xfrm>
            <a:off x="164592" y="18288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1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121278-0AE4-67D0-A8B1-DC8C41024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00" y="370501"/>
            <a:ext cx="7649993" cy="475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34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8288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Quality Fixes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292608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 &amp; Fixed Across All 6 Tables — Before Analysis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594360"/>
          <a:ext cx="8138160" cy="2042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Applied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cost_price ≤ 0 OR mrp &lt; cost_price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 + FK cascade (FOREIGN_KEY_CHECKS=0)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category / brand / weight_kg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via supplier_id, category 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order_status / order_channel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most frequent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payment_method = INVALID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with WALLET (mode value)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= 0 OR selling_price =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 + child records removed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discount_type / coupon / stackable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mode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shipping_cost &lt; 0 / NULL delivery fields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replacement &amp; mode fill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payment_fees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settlement_days (PAYLATER)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average (2 days)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64592" y="4658868"/>
            <a:ext cx="8814816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677156"/>
            <a:ext cx="863193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 15,766 valid orders  |  1,387 products  |  Zero NULL values in key columns  |  Base view vw_order_summary created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2880" y="4942332"/>
            <a:ext cx="8778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SQL Project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8288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Revenue vs Profit Reality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292608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vw_order_summary — Base View Powering All 15 Tasks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1828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594360"/>
            <a:ext cx="1828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" y="640080"/>
            <a:ext cx="17373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15,766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0312" y="1088136"/>
            <a:ext cx="17373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0" y="594360"/>
            <a:ext cx="2103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594360"/>
            <a:ext cx="2103120" cy="36576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640080"/>
            <a:ext cx="201168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₹4,99,32,433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48840" y="1088136"/>
            <a:ext cx="20116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15968" y="594360"/>
            <a:ext cx="2103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15968" y="594360"/>
            <a:ext cx="21031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1688" y="640080"/>
            <a:ext cx="201168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₹1,48,37,233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61688" y="1088136"/>
            <a:ext cx="201168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28816" y="594360"/>
            <a:ext cx="2377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28816" y="594360"/>
            <a:ext cx="23774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74536" y="640080"/>
            <a:ext cx="228600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74536" y="1088136"/>
            <a:ext cx="228600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901673"/>
              </p:ext>
            </p:extLst>
          </p:nvPr>
        </p:nvGraphicFramePr>
        <p:xfrm>
          <a:off x="278722" y="1638131"/>
          <a:ext cx="3648795" cy="1813560"/>
        </p:xfrm>
        <a:graphic>
          <a:graphicData uri="http://schemas.openxmlformats.org/drawingml/2006/table">
            <a:tbl>
              <a:tblPr/>
              <a:tblGrid>
                <a:gridCol w="1183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₹4,99,32,433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Product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₹2,12,66,100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Return Losses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₹88,09,572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17.64%  ← #1 Leakage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Discounts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₹37,34,972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7.48%  ← #2 Leakage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Payment Fees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₹10,97,002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Logistics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₹7,59,743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Net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₹1,48,37,233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4170251706"/>
              </p:ext>
            </p:extLst>
          </p:nvPr>
        </p:nvGraphicFramePr>
        <p:xfrm>
          <a:off x="4855464" y="1536192"/>
          <a:ext cx="4105656" cy="2369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82880" y="4942332"/>
            <a:ext cx="8778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SQL Project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8288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2 &amp; 3: Category Sales &amp; Loss-Making Products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292608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Profit Analysis + 276 Loss-Making Products Identified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245840"/>
              </p:ext>
            </p:extLst>
          </p:nvPr>
        </p:nvGraphicFramePr>
        <p:xfrm>
          <a:off x="247057" y="1834393"/>
          <a:ext cx="4389120" cy="13563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₹1,34,75,887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₹1,30,77,195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27.78%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₹79,97,456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₹84,26,890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₹69,55,005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32.66%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17.10%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701464178"/>
              </p:ext>
            </p:extLst>
          </p:nvPr>
        </p:nvGraphicFramePr>
        <p:xfrm>
          <a:off x="4751493" y="1794266"/>
          <a:ext cx="429768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293285" y="604525"/>
            <a:ext cx="2057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93285" y="604525"/>
            <a:ext cx="2057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39005" y="650245"/>
            <a:ext cx="19659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1,387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39005" y="1098301"/>
            <a:ext cx="19659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Analyzed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451269" y="604525"/>
            <a:ext cx="2057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451269" y="604525"/>
            <a:ext cx="2057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496989" y="650245"/>
            <a:ext cx="19659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1,111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496989" y="1098301"/>
            <a:ext cx="19659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(80.1%)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609253" y="604525"/>
            <a:ext cx="2057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09253" y="604525"/>
            <a:ext cx="20574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54973" y="650245"/>
            <a:ext cx="19659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276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654973" y="1098301"/>
            <a:ext cx="19659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(19.9%)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767237" y="604525"/>
            <a:ext cx="20574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767237" y="604525"/>
            <a:ext cx="20574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12957" y="650245"/>
            <a:ext cx="1965960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₹13,73,976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6812957" y="1098301"/>
            <a:ext cx="196596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Amount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82880" y="4942332"/>
            <a:ext cx="8778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SQL Project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8288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4 &amp; 6: Discount Usage &amp; Profit Gap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292608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37.94% of Orders Discounted — But Discounts Reduce Profit by 41.30%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1965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594360"/>
            <a:ext cx="196596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" y="640080"/>
            <a:ext cx="187452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37.94%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0312" y="1060704"/>
            <a:ext cx="187452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Discounted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40280" y="594360"/>
            <a:ext cx="1965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40280" y="594360"/>
            <a:ext cx="196596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640080"/>
            <a:ext cx="187452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₹37,34,972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86000" y="1060704"/>
            <a:ext cx="187452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Discount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15968" y="594360"/>
            <a:ext cx="1965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15968" y="594360"/>
            <a:ext cx="1965960" cy="36576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1688" y="640080"/>
            <a:ext cx="187452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₹624.47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61688" y="1060704"/>
            <a:ext cx="187452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Disc/Order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391656" y="594360"/>
            <a:ext cx="253288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91656" y="594360"/>
            <a:ext cx="2532888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640080"/>
            <a:ext cx="2441448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-₹460.90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37376" y="1060704"/>
            <a:ext cx="2441448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Gap/Order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481328"/>
          <a:ext cx="5303520" cy="8991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Discount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Profit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Non-Discounted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₹1,115.94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₹624.47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₹655.04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-₹460.90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-14.68%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2578608"/>
          <a:ext cx="4389120" cy="12039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Profit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₹1-₹200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33.23%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Profitable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₹201-₹400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-₹3,772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-113.85%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2917816391"/>
              </p:ext>
            </p:extLst>
          </p:nvPr>
        </p:nvGraphicFramePr>
        <p:xfrm>
          <a:off x="4874429" y="2434590"/>
          <a:ext cx="4155440" cy="2176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82880" y="4942332"/>
            <a:ext cx="8778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SQL Project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8288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5 &amp; 10: Payment Method Analysis &amp; Fee Leakage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292608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Pays 39.93% of All Fees — Shift to UPI Saves ₹2,87,829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206654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594360"/>
            <a:ext cx="2066544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" y="621792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7744" y="932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Rate: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16152" y="9326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" y="1280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16152" y="1280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31.57%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" y="16276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16152" y="16276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17.02%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22576" y="594360"/>
            <a:ext cx="206654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22576" y="594360"/>
            <a:ext cx="206654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68296" y="621792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95728" y="932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Rate: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74136" y="9326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95728" y="1280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74136" y="1280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31.51%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95728" y="16276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74136" y="16276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16.55%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594360"/>
            <a:ext cx="206654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594360"/>
            <a:ext cx="2066544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621792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53712" y="932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Rate: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32120" y="9326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53712" y="1280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32120" y="1280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29.40%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53712" y="16276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16276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38544" y="594360"/>
            <a:ext cx="206654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638544" y="594360"/>
            <a:ext cx="2066544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84264" y="621792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711696" y="9326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Rate: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90104" y="93268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11696" y="1280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90104" y="1280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26.46%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11696" y="16276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90104" y="16276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18.76%</a:t>
            </a:r>
            <a:endParaRPr lang="en-US" sz="1000" dirty="0"/>
          </a:p>
        </p:txBody>
      </p:sp>
      <p:graphicFrame>
        <p:nvGraphicFramePr>
          <p:cNvPr id="42" name="Chart 0"/>
          <p:cNvGraphicFramePr/>
          <p:nvPr/>
        </p:nvGraphicFramePr>
        <p:xfrm>
          <a:off x="164592" y="2176272"/>
          <a:ext cx="40233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2176272"/>
          <a:ext cx="4663440" cy="13563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Fee/Order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₹111.05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₹38.25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₹72.80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Fees Paid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₹4,37,998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₹1,50,169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₹2,87,829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182880" y="4942332"/>
            <a:ext cx="8778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SQL Project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8288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7 &amp; 8: Return Impact &amp; Reason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292608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#1 Leakage — ₹40,07,357 Total Loss  |  17.64% Return Rate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594360"/>
            <a:ext cx="192024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" y="640080"/>
            <a:ext cx="182880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2,781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0312" y="1060704"/>
            <a:ext cx="18288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Orders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594360"/>
            <a:ext cx="19202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94560" y="594360"/>
            <a:ext cx="192024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640080"/>
            <a:ext cx="182880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40280" y="1060704"/>
            <a:ext cx="18288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24528" y="594360"/>
            <a:ext cx="21031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24528" y="594360"/>
            <a:ext cx="21031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0248" y="640080"/>
            <a:ext cx="201168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₹88,09,572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70248" y="1060704"/>
            <a:ext cx="201168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Reversed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37376" y="594360"/>
            <a:ext cx="248716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37376" y="594360"/>
            <a:ext cx="2487168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3096" y="640080"/>
            <a:ext cx="2395728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₹1,441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83096" y="1060704"/>
            <a:ext cx="2395728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Loss/Return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481328"/>
          <a:ext cx="6995160" cy="15849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Reason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Lost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Needed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₹14,31,732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₹7,18,676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packaging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Specified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₹14,90,657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₹6,78,539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₹1,390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mandatory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₹15,28,729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₹6,61,049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₹1,406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 checks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Changed Mind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₹14,92,465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₹6,52,297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₹1,368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₹14,44,816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₹6,50,520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₹1,495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 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₹14,21,173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₹6,46,276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₹1,417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Barcode scan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164592" y="4622292"/>
            <a:ext cx="8814816" cy="237744"/>
          </a:xfrm>
          <a:prstGeom prst="rect">
            <a:avLst/>
          </a:prstGeom>
          <a:solidFill>
            <a:srgbClr val="1E2A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56032" y="4640580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return rate → 10%: saves 1,205 returns → +₹17,36,377 profit (+3.48% margin)  |  Reduce → 8%: saves 1,520 returns → +₹21,90,285 profit (+4.39% margin)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82880" y="4942332"/>
            <a:ext cx="8778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SQL Project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8288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9 &amp; 11: Logistics Burden &amp; Complete Leakage Breakdown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292608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where Logistics &gt; 20% of Value  |  Full Revenue Leakage Diagnosis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594360"/>
            <a:ext cx="192024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" y="640080"/>
            <a:ext cx="1828800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0312" y="1044245"/>
            <a:ext cx="1828800" cy="262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Burden Orders (0.96%)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59436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94560" y="594360"/>
            <a:ext cx="192024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640080"/>
            <a:ext cx="1828800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59.21%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40280" y="1044245"/>
            <a:ext cx="1828800" cy="262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Loss-Making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24528" y="59436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24528" y="594360"/>
            <a:ext cx="192024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0248" y="640080"/>
            <a:ext cx="1828800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-₹23,433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70248" y="1044245"/>
            <a:ext cx="1828800" cy="262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Burden Loss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63056" y="594360"/>
            <a:ext cx="276148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594360"/>
            <a:ext cx="2761488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640080"/>
            <a:ext cx="2670048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08776" y="1044245"/>
            <a:ext cx="2670048" cy="262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Min Order Value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4592" y="138988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Leakage Ranking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925703"/>
              </p:ext>
            </p:extLst>
          </p:nvPr>
        </p:nvGraphicFramePr>
        <p:xfrm>
          <a:off x="228601" y="1582674"/>
          <a:ext cx="4898812" cy="1356360"/>
        </p:xfrm>
        <a:graphic>
          <a:graphicData uri="http://schemas.openxmlformats.org/drawingml/2006/table">
            <a:tbl>
              <a:tblPr/>
              <a:tblGrid>
                <a:gridCol w="520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8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25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25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Losses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₹88,09,572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return rate → 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₹37,34,972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max discount ₹400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Fees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₹10,97,002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COD to UPI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₹7,59,743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order ₹600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1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₹1,44,01,289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 sources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633753816"/>
              </p:ext>
            </p:extLst>
          </p:nvPr>
        </p:nvGraphicFramePr>
        <p:xfrm>
          <a:off x="5184649" y="1582673"/>
          <a:ext cx="3794760" cy="2698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82880" y="4942332"/>
            <a:ext cx="8778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SQL Project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8288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12: Product Profit Ranking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292608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Pareto: Top 32.7% Products = 80% of Profit  |  Star vs Worst Products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549656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Profit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733878"/>
              </p:ext>
            </p:extLst>
          </p:nvPr>
        </p:nvGraphicFramePr>
        <p:xfrm>
          <a:off x="164592" y="964946"/>
          <a:ext cx="4663440" cy="181356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₹82,956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₹77,589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₹73,335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₹57,154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90.15%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₹55,294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85.10%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64592" y="315290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Loss-Making Products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869676"/>
              </p:ext>
            </p:extLst>
          </p:nvPr>
        </p:nvGraphicFramePr>
        <p:xfrm>
          <a:off x="182880" y="3604260"/>
          <a:ext cx="7191250" cy="1127760"/>
        </p:xfrm>
        <a:graphic>
          <a:graphicData uri="http://schemas.openxmlformats.org/drawingml/2006/table">
            <a:tbl>
              <a:tblPr/>
              <a:tblGrid>
                <a:gridCol w="987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1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95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#1387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-₹27,985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76.47%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#1386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-₹23,206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#1385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-₹23,168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#1384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-₹21,984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2461398103"/>
              </p:ext>
            </p:extLst>
          </p:nvPr>
        </p:nvGraphicFramePr>
        <p:xfrm>
          <a:off x="4876800" y="502920"/>
          <a:ext cx="4206240" cy="2832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182880" y="4942332"/>
            <a:ext cx="8778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SQL Project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8288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13: Category Margin Stability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292608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of Margins — Returns &amp; Discounts Drive Volatility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461454"/>
              </p:ext>
            </p:extLst>
          </p:nvPr>
        </p:nvGraphicFramePr>
        <p:xfrm>
          <a:off x="164591" y="603504"/>
          <a:ext cx="5389540" cy="1356360"/>
        </p:xfrm>
        <a:graphic>
          <a:graphicData uri="http://schemas.openxmlformats.org/drawingml/2006/table">
            <a:tbl>
              <a:tblPr/>
              <a:tblGrid>
                <a:gridCol w="1251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6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8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1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 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Fashion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Volatile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Volatility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79.06%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Volatility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22.57%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Stable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82880" y="20878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Volatility Drivers (Correlation with Margin)</a:t>
            </a:r>
            <a:endParaRPr lang="en-US" sz="14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2377440"/>
          <a:ext cx="4206240" cy="11277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driver of volatility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driver of volatility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positive effect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2117736563"/>
              </p:ext>
            </p:extLst>
          </p:nvPr>
        </p:nvGraphicFramePr>
        <p:xfrm>
          <a:off x="4773170" y="2857500"/>
          <a:ext cx="4370832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1"/>
          <p:cNvGraphicFramePr/>
          <p:nvPr>
            <p:extLst>
              <p:ext uri="{D42A27DB-BD31-4B8C-83A1-F6EECF244321}">
                <p14:modId xmlns:p14="http://schemas.microsoft.com/office/powerpoint/2010/main" val="3841970393"/>
              </p:ext>
            </p:extLst>
          </p:nvPr>
        </p:nvGraphicFramePr>
        <p:xfrm>
          <a:off x="164592" y="3616452"/>
          <a:ext cx="4370832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182880" y="4942332"/>
            <a:ext cx="8778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SQL Project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8288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14: High-Risk Customer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292608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1,326 Customers (19.33%) Cause -₹16,43,490 Losses  |  Market Avg: 17.64%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594360"/>
            <a:ext cx="19202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" y="640080"/>
            <a:ext cx="1828800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6,859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0312" y="1044245"/>
            <a:ext cx="1828800" cy="262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94560" y="59436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94560" y="594360"/>
            <a:ext cx="1920240" cy="36576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640080"/>
            <a:ext cx="1828800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40280" y="1044245"/>
            <a:ext cx="1828800" cy="262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Avg Return Rate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24528" y="59436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24528" y="594360"/>
            <a:ext cx="192024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0248" y="640080"/>
            <a:ext cx="1828800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1,326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70248" y="1044245"/>
            <a:ext cx="1828800" cy="262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(19.33%)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63056" y="594360"/>
            <a:ext cx="276148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594360"/>
            <a:ext cx="2761488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640080"/>
            <a:ext cx="2670048" cy="412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-₹16,43,490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08776" y="1044245"/>
            <a:ext cx="2670048" cy="262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Total Loss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02483"/>
              </p:ext>
            </p:extLst>
          </p:nvPr>
        </p:nvGraphicFramePr>
        <p:xfrm>
          <a:off x="164592" y="1463040"/>
          <a:ext cx="5044102" cy="1127760"/>
        </p:xfrm>
        <a:graphic>
          <a:graphicData uri="http://schemas.openxmlformats.org/drawingml/2006/table">
            <a:tbl>
              <a:tblPr/>
              <a:tblGrid>
                <a:gridCol w="1112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0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4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Return%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Profit/Cust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RETURNS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₹2,990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₹1,49,15,556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₹7,547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₹3,77,332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AVERAGE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₹11,87,836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-₹1,239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-₹16,43,490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64592" y="28803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Loss-Causing Customers</a:t>
            </a:r>
            <a:endParaRPr lang="en-US" sz="14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47597"/>
              </p:ext>
            </p:extLst>
          </p:nvPr>
        </p:nvGraphicFramePr>
        <p:xfrm>
          <a:off x="164592" y="3181198"/>
          <a:ext cx="4389120" cy="8991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 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-₹24,112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-₹21,890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-₹12,928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2675207691"/>
              </p:ext>
            </p:extLst>
          </p:nvPr>
        </p:nvGraphicFramePr>
        <p:xfrm>
          <a:off x="5308262" y="1550179"/>
          <a:ext cx="3671146" cy="20431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4942332"/>
            <a:ext cx="8778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SQL Project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8288"/>
            <a:ext cx="8814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15: Executive Profitability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4592" y="292608"/>
            <a:ext cx="88148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Profit Lower Than Expected? — Complete Consolidated Answer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192013531"/>
              </p:ext>
            </p:extLst>
          </p:nvPr>
        </p:nvGraphicFramePr>
        <p:xfrm>
          <a:off x="164592" y="594360"/>
          <a:ext cx="4370832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2542032"/>
          <a:ext cx="4206240" cy="1356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₹1,48,37,233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Returns 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₹1,92,42,019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Discounts 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₹1,63,31,222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COD→UPI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₹1,51,25,062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Returns+Discounts Both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₹2,07,36,008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35424" y="594360"/>
            <a:ext cx="4443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 Plan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35424" y="841248"/>
            <a:ext cx="44439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35423" y="841248"/>
            <a:ext cx="310897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35424" y="841248"/>
            <a:ext cx="310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882896" y="87782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return rate 17.64% to 10%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82896" y="1124712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Gain: ₹44,04,786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35424" y="1399032"/>
            <a:ext cx="44439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Shape 11"/>
          <p:cNvSpPr/>
          <p:nvPr/>
        </p:nvSpPr>
        <p:spPr>
          <a:xfrm>
            <a:off x="4535424" y="1399032"/>
            <a:ext cx="310896" cy="4937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35424" y="1399032"/>
            <a:ext cx="310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82896" y="1435608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max discount at ₹400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882896" y="1682496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Gain: ₹14,93,989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535424" y="1956816"/>
            <a:ext cx="44439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35424" y="1956816"/>
            <a:ext cx="310896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35424" y="1956816"/>
            <a:ext cx="310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82896" y="199339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276 loss-making products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882896" y="2240280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Gain: ₹13,73,976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535424" y="2514600"/>
            <a:ext cx="44439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35424" y="2514600"/>
            <a:ext cx="310896" cy="4937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35424" y="2514600"/>
            <a:ext cx="310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882896" y="2551176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COD customers to UPI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882896" y="2798064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Gain: ₹2,87,829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535424" y="3072384"/>
            <a:ext cx="44439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535424" y="3072384"/>
            <a:ext cx="310896" cy="4937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535424" y="3072384"/>
            <a:ext cx="310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882896" y="3108960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min order value ₹600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882896" y="3355848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Gain: ₹12,695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82880" y="4942332"/>
            <a:ext cx="8778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SQL Project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Strategic Recommendations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2834640" cy="4041648"/>
          </a:xfrm>
          <a:prstGeom prst="rect">
            <a:avLst/>
          </a:prstGeom>
          <a:solidFill>
            <a:srgbClr val="162236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13232"/>
            <a:ext cx="28346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Findings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743200" cy="4023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07899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profit: ₹1,48,37,233 (29.71% margin)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52704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= #1 leakage at 17.64% (₹88.1L)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47672"/>
            <a:ext cx="2743200" cy="4023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975104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= #2 leakage at 7.48% (₹37.3L)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42316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Home: best category (32.66% margin)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843784"/>
            <a:ext cx="2743200" cy="4023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871216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UPI: best payment (31.57% margin, 1.2% fee)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331927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610: 90.15% margin, 0% returns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739896"/>
            <a:ext cx="2743200" cy="4023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76732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670: -₹27,985 — remove immediately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4215384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customers have 100% return 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18688" y="713232"/>
            <a:ext cx="2834640" cy="4041648"/>
          </a:xfrm>
          <a:prstGeom prst="rect">
            <a:avLst/>
          </a:prstGeom>
          <a:solidFill>
            <a:srgbClr val="16223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18688" y="713232"/>
            <a:ext cx="28346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74980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64408" y="1051560"/>
            <a:ext cx="2743200" cy="4023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107899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Reduce returns 17.64%→10%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28416" y="152704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Gain: +₹44,04,786 profit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64408" y="1947672"/>
            <a:ext cx="2743200" cy="4023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1975104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Cap discounts max ₹400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28416" y="242316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Gain: +₹14,93,989 profit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64408" y="2843784"/>
            <a:ext cx="2743200" cy="4023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2871216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Remove 276 loss products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28416" y="331927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Save: ₹13,73,976 in losses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64408" y="3739896"/>
            <a:ext cx="2743200" cy="4023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28416" y="376732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P4: Shift COD → UPI payments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28416" y="4215384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Save: ₹2,87,829 in fees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63056" y="713232"/>
            <a:ext cx="2834640" cy="4041648"/>
          </a:xfrm>
          <a:prstGeom prst="rect">
            <a:avLst/>
          </a:prstGeom>
          <a:solidFill>
            <a:srgbClr val="16223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63056" y="713232"/>
            <a:ext cx="283464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08776" y="74980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08776" y="1051560"/>
            <a:ext cx="2743200" cy="4023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107899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profit margin: 29.71%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72784" y="152704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returns fix (50%): 38.54%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08776" y="1947672"/>
            <a:ext cx="2743200" cy="4023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2784" y="1975104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discounts cap: 32.71%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72784" y="2423160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BOTH fixed: 41.53%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08776" y="2843784"/>
            <a:ext cx="2743200" cy="4023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2871216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profit: ₹58,98,775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72784" y="3319272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+39.75% profit increase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08776" y="3739896"/>
            <a:ext cx="2743200" cy="402336"/>
          </a:xfrm>
          <a:prstGeom prst="rect">
            <a:avLst/>
          </a:prstGeom>
          <a:solidFill>
            <a:srgbClr val="1E305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72784" y="3767328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category to invest: Home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72784" y="4215384"/>
            <a:ext cx="2633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payment to promote: UPI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Revenue Leakage &amp; Gap Analysis  |  SQL Project  |  15 Tasks  |  E-Commerce Analytics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2846</TotalTime>
  <Words>2183</Words>
  <Application>Microsoft Office PowerPoint</Application>
  <PresentationFormat>On-screen Show (16:9)</PresentationFormat>
  <Paragraphs>647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Marketplace Revenue Leakage &amp; Gap Analysis</dc:title>
  <dc:subject>PptxGenJS Presentation</dc:subject>
  <dc:creator>PptxGenJS</dc:creator>
  <cp:lastModifiedBy>Devi Balaji</cp:lastModifiedBy>
  <cp:revision>12</cp:revision>
  <dcterms:created xsi:type="dcterms:W3CDTF">2026-03-20T13:07:43Z</dcterms:created>
  <dcterms:modified xsi:type="dcterms:W3CDTF">2026-03-31T11:32:45Z</dcterms:modified>
</cp:coreProperties>
</file>