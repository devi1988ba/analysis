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drawings/drawing1.xml" ContentType="application/vnd.openxmlformats-officedocument.drawingml.chartshapes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9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2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0A2E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A0A2E"/>
                </a:solidFill>
                <a:latin typeface="Arial"/>
              </a:rPr>
              <a:t>Posts per Month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Posts per Month</c:v>
                </c:pt>
              </c:strCache>
            </c:strRef>
          </c:tx>
          <c:spPr>
            <a:ln w="38100" cap="flat">
              <a:solidFill>
                <a:srgbClr val="EC489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C4899"/>
              </a:solidFill>
              <a:ln w="9525" cap="flat">
                <a:solidFill>
                  <a:srgbClr val="EC4899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Apr'24</c:v>
                </c:pt>
                <c:pt idx="1">
                  <c:v>May'24</c:v>
                </c:pt>
                <c:pt idx="2">
                  <c:v>Jun'24</c:v>
                </c:pt>
                <c:pt idx="3">
                  <c:v>Jul'24</c:v>
                </c:pt>
                <c:pt idx="4">
                  <c:v>Aug'24</c:v>
                </c:pt>
                <c:pt idx="5">
                  <c:v>Sep'24</c:v>
                </c:pt>
                <c:pt idx="6">
                  <c:v>Oct'24</c:v>
                </c:pt>
                <c:pt idx="7">
                  <c:v>Nov'24</c:v>
                </c:pt>
                <c:pt idx="8">
                  <c:v>Dec'24</c:v>
                </c:pt>
                <c:pt idx="9">
                  <c:v>Jan'25</c:v>
                </c:pt>
                <c:pt idx="10">
                  <c:v>Feb'25</c:v>
                </c:pt>
                <c:pt idx="11">
                  <c:v>Mar'25</c:v>
                </c:pt>
                <c:pt idx="12">
                  <c:v>Apr'25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1626</c:v>
                </c:pt>
                <c:pt idx="1">
                  <c:v>4250</c:v>
                </c:pt>
                <c:pt idx="2">
                  <c:v>4232</c:v>
                </c:pt>
                <c:pt idx="3">
                  <c:v>4121</c:v>
                </c:pt>
                <c:pt idx="4">
                  <c:v>4242</c:v>
                </c:pt>
                <c:pt idx="5">
                  <c:v>4160</c:v>
                </c:pt>
                <c:pt idx="6">
                  <c:v>4225</c:v>
                </c:pt>
                <c:pt idx="7">
                  <c:v>4075</c:v>
                </c:pt>
                <c:pt idx="8">
                  <c:v>4296</c:v>
                </c:pt>
                <c:pt idx="9">
                  <c:v>4244</c:v>
                </c:pt>
                <c:pt idx="10">
                  <c:v>3930</c:v>
                </c:pt>
                <c:pt idx="11">
                  <c:v>4139</c:v>
                </c:pt>
                <c:pt idx="12">
                  <c:v>2460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6D9-4317-9B0F-C30C85644B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0A2E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A0A2E"/>
                </a:solidFill>
                <a:latin typeface="Arial"/>
              </a:rPr>
              <a:t>Top 10 by Likes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Likes</c:v>
                </c:pt>
              </c:strCache>
            </c:strRef>
          </c:tx>
          <c:spPr>
            <a:solidFill>
              <a:srgbClr val="EC489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7415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#10</c:v>
                </c:pt>
                <c:pt idx="1">
                  <c:v>#9</c:v>
                </c:pt>
                <c:pt idx="2">
                  <c:v>#8</c:v>
                </c:pt>
                <c:pt idx="3">
                  <c:v>#7</c:v>
                </c:pt>
                <c:pt idx="4">
                  <c:v>#6</c:v>
                </c:pt>
                <c:pt idx="5">
                  <c:v>#5</c:v>
                </c:pt>
                <c:pt idx="6">
                  <c:v>#4</c:v>
                </c:pt>
                <c:pt idx="7">
                  <c:v>#3</c:v>
                </c:pt>
                <c:pt idx="8">
                  <c:v>#2</c:v>
                </c:pt>
                <c:pt idx="9">
                  <c:v>#1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6100</c:v>
                </c:pt>
                <c:pt idx="1">
                  <c:v>6150</c:v>
                </c:pt>
                <c:pt idx="2">
                  <c:v>6200</c:v>
                </c:pt>
                <c:pt idx="3">
                  <c:v>6250</c:v>
                </c:pt>
                <c:pt idx="4">
                  <c:v>6300</c:v>
                </c:pt>
                <c:pt idx="5">
                  <c:v>6350</c:v>
                </c:pt>
                <c:pt idx="6">
                  <c:v>6400</c:v>
                </c:pt>
                <c:pt idx="7">
                  <c:v>6600</c:v>
                </c:pt>
                <c:pt idx="8">
                  <c:v>6850</c:v>
                </c:pt>
                <c:pt idx="9">
                  <c:v>7200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6C-4137-B142-421EF98923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0A2E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0A2E"/>
                </a:solidFill>
                <a:latin typeface="Arial"/>
              </a:rPr>
              <a:t>Top 10 by Engagement Rate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 Rate %</c:v>
                </c:pt>
              </c:strCache>
            </c:strRef>
          </c:tx>
          <c:spPr>
            <a:solidFill>
              <a:srgbClr val="6B21A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7415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#10</c:v>
                </c:pt>
                <c:pt idx="1">
                  <c:v>#9</c:v>
                </c:pt>
                <c:pt idx="2">
                  <c:v>#8</c:v>
                </c:pt>
                <c:pt idx="3">
                  <c:v>#7</c:v>
                </c:pt>
                <c:pt idx="4">
                  <c:v>#6</c:v>
                </c:pt>
                <c:pt idx="5">
                  <c:v>#5</c:v>
                </c:pt>
                <c:pt idx="6">
                  <c:v>#4</c:v>
                </c:pt>
                <c:pt idx="7">
                  <c:v>#3</c:v>
                </c:pt>
                <c:pt idx="8">
                  <c:v>#2</c:v>
                </c:pt>
                <c:pt idx="9">
                  <c:v>#1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31.82</c:v>
                </c:pt>
                <c:pt idx="1">
                  <c:v>31.86</c:v>
                </c:pt>
                <c:pt idx="2">
                  <c:v>31.87</c:v>
                </c:pt>
                <c:pt idx="3">
                  <c:v>31.9</c:v>
                </c:pt>
                <c:pt idx="4">
                  <c:v>31.94</c:v>
                </c:pt>
                <c:pt idx="5">
                  <c:v>32.06</c:v>
                </c:pt>
                <c:pt idx="6">
                  <c:v>32.14</c:v>
                </c:pt>
                <c:pt idx="7">
                  <c:v>32.58</c:v>
                </c:pt>
                <c:pt idx="8">
                  <c:v>33.090000000000003</c:v>
                </c:pt>
                <c:pt idx="9">
                  <c:v>33.17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7B-4BAC-8DA2-5ED3A476BCB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FFFFFF"/>
                </a:solidFill>
                <a:latin typeface="Arial"/>
              </a:rPr>
              <a:t>Avg Engagement Rate by Post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Engagement Rate (%)</c:v>
                </c:pt>
              </c:strCache>
            </c:strRef>
          </c:tx>
          <c:spPr>
            <a:solidFill>
              <a:srgbClr val="EC4899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A79-4DA4-A190-332670F68199}"/>
              </c:ext>
            </c:extLst>
          </c:dPt>
          <c:dPt>
            <c:idx val="1"/>
            <c:invertIfNegative val="0"/>
            <c:bubble3D val="0"/>
            <c:spPr>
              <a:solidFill>
                <a:srgbClr val="FB71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A79-4DA4-A190-332670F68199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A79-4DA4-A190-332670F68199}"/>
              </c:ext>
            </c:extLst>
          </c:dPt>
          <c:dPt>
            <c:idx val="3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A79-4DA4-A190-332670F68199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18.61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A79-4DA4-A190-332670F68199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A79-4DA4-A190-332670F6819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18.5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1856160025451347E-2"/>
                      <c:h val="5.5733618233618228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5-DA79-4DA4-A190-332670F68199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A79-4DA4-A190-332670F6819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Reel</c:v>
                </c:pt>
                <c:pt idx="1">
                  <c:v>Story</c:v>
                </c:pt>
                <c:pt idx="2">
                  <c:v>Video</c:v>
                </c:pt>
                <c:pt idx="3">
                  <c:v>Image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 formatCode="General">
                  <c:v>18.61</c:v>
                </c:pt>
                <c:pt idx="1">
                  <c:v>18.600000000000001</c:v>
                </c:pt>
                <c:pt idx="2" formatCode="General">
                  <c:v>18.5</c:v>
                </c:pt>
                <c:pt idx="3" formatCode="General">
                  <c:v>18.420000000000002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A79-4DA4-A190-332670F6819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.7"/>
          <c:min val="18.3"/>
        </c:scaling>
        <c:delete val="0"/>
        <c:axPos val="l"/>
        <c:majorGridlines>
          <c:spPr>
            <a:ln w="6350" cap="flat">
              <a:solidFill>
                <a:srgbClr val="37415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0A3C"/>
    </a:solidFill>
    <a:ln>
      <a:noFill/>
    </a:ln>
    <a:effectLst/>
  </c:spPr>
  <c:externalData r:id="rId1">
    <c:autoUpdate val="0"/>
  </c:externalData>
  <c:userShapes r:id="rId2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0A2E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A0A2E"/>
                </a:solidFill>
                <a:latin typeface="Arial"/>
              </a:rPr>
              <a:t>Avg Engagement Rate by Day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Engagement Rate (%)</c:v>
                </c:pt>
              </c:strCache>
            </c:strRef>
          </c:tx>
          <c:spPr>
            <a:solidFill>
              <a:srgbClr val="6B21A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B21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465-4349-8C3D-0A1168996D49}"/>
              </c:ext>
            </c:extLst>
          </c:dPt>
          <c:dPt>
            <c:idx val="1"/>
            <c:invertIfNegative val="0"/>
            <c:bubble3D val="0"/>
            <c:spPr>
              <a:solidFill>
                <a:srgbClr val="6B21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465-4349-8C3D-0A1168996D49}"/>
              </c:ext>
            </c:extLst>
          </c:dPt>
          <c:dPt>
            <c:idx val="2"/>
            <c:invertIfNegative val="0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465-4349-8C3D-0A1168996D49}"/>
              </c:ext>
            </c:extLst>
          </c:dPt>
          <c:dPt>
            <c:idx val="3"/>
            <c:invertIfNegative val="0"/>
            <c:bubble3D val="0"/>
            <c:spPr>
              <a:solidFill>
                <a:srgbClr val="6B21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465-4349-8C3D-0A1168996D49}"/>
              </c:ext>
            </c:extLst>
          </c:dPt>
          <c:dPt>
            <c:idx val="4"/>
            <c:invertIfNegative val="0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465-4349-8C3D-0A1168996D49}"/>
              </c:ext>
            </c:extLst>
          </c:dPt>
          <c:dPt>
            <c:idx val="5"/>
            <c:invertIfNegative val="0"/>
            <c:bubble3D val="0"/>
            <c:spPr>
              <a:solidFill>
                <a:srgbClr val="A855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465-4349-8C3D-0A1168996D49}"/>
              </c:ext>
            </c:extLst>
          </c:dPt>
          <c:dPt>
            <c:idx val="6"/>
            <c:invertIfNegative val="0"/>
            <c:bubble3D val="0"/>
            <c:spPr>
              <a:solidFill>
                <a:srgbClr val="3741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465-4349-8C3D-0A1168996D49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18.48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465-4349-8C3D-0A1168996D4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18.57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5465-4349-8C3D-0A1168996D4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18.63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465-4349-8C3D-0A1168996D49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18.47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5465-4349-8C3D-0A1168996D49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18.57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5465-4349-8C3D-0A1168996D49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18.59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5465-4349-8C3D-0A1168996D49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18.41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5465-4349-8C3D-0A1168996D4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7415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18.48</c:v>
                </c:pt>
                <c:pt idx="1">
                  <c:v>18.57</c:v>
                </c:pt>
                <c:pt idx="2">
                  <c:v>18.63</c:v>
                </c:pt>
                <c:pt idx="3">
                  <c:v>18.47</c:v>
                </c:pt>
                <c:pt idx="4">
                  <c:v>18.57</c:v>
                </c:pt>
                <c:pt idx="5">
                  <c:v>18.59</c:v>
                </c:pt>
                <c:pt idx="6">
                  <c:v>18.41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5465-4349-8C3D-0A1168996D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.7"/>
          <c:min val="18.350000000000001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0A2E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0A2E"/>
                </a:solidFill>
                <a:latin typeface="Arial"/>
              </a:rPr>
              <a:t>Avg Engagement Rate by Hashtag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Engagement Rate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DCE-4805-8689-2ACD44C13C26}"/>
              </c:ext>
            </c:extLst>
          </c:dPt>
          <c:dPt>
            <c:idx val="1"/>
            <c:invertIfNegative val="0"/>
            <c:bubble3D val="0"/>
            <c:spPr>
              <a:solidFill>
                <a:srgbClr val="6B21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DCE-4805-8689-2ACD44C13C26}"/>
              </c:ext>
            </c:extLst>
          </c:dPt>
          <c:dPt>
            <c:idx val="2"/>
            <c:invertIfNegative val="0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DCE-4805-8689-2ACD44C13C26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DCE-4805-8689-2ACD44C13C26}"/>
              </c:ext>
            </c:extLst>
          </c:dPt>
          <c:dPt>
            <c:idx val="4"/>
            <c:invertIfNegative val="0"/>
            <c:bubble3D val="0"/>
            <c:spPr>
              <a:solidFill>
                <a:srgbClr val="3741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DCE-4805-8689-2ACD44C13C2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7415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#VeganBeauty</c:v>
                </c:pt>
                <c:pt idx="1">
                  <c:v>#BoldLooks</c:v>
                </c:pt>
                <c:pt idx="2">
                  <c:v>#CrueltyFree</c:v>
                </c:pt>
                <c:pt idx="3">
                  <c:v>#SugarCosmetics</c:v>
                </c:pt>
                <c:pt idx="4">
                  <c:v>#MakeupGoals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18.600000000000001</c:v>
                </c:pt>
                <c:pt idx="1">
                  <c:v>18.579999999999998</c:v>
                </c:pt>
                <c:pt idx="2">
                  <c:v>18.54</c:v>
                </c:pt>
                <c:pt idx="3">
                  <c:v>18.52</c:v>
                </c:pt>
                <c:pt idx="4">
                  <c:v>18.510000000000002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DCE-4805-8689-2ACD44C13C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18.48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0A2E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A0A2E"/>
                </a:solidFill>
                <a:latin typeface="Arial"/>
              </a:rPr>
              <a:t>Usage Share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Post Count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AC7-4CFA-B4E7-03AE16BD26F9}"/>
              </c:ext>
            </c:extLst>
          </c:dPt>
          <c:dPt>
            <c:idx val="1"/>
            <c:bubble3D val="0"/>
            <c:spPr>
              <a:solidFill>
                <a:srgbClr val="6B21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AC7-4CFA-B4E7-03AE16BD26F9}"/>
              </c:ext>
            </c:extLst>
          </c:dPt>
          <c:dPt>
            <c:idx val="2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AC7-4CFA-B4E7-03AE16BD26F9}"/>
              </c:ext>
            </c:extLst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AC7-4CFA-B4E7-03AE16BD26F9}"/>
              </c:ext>
            </c:extLst>
          </c:dPt>
          <c:dPt>
            <c:idx val="4"/>
            <c:bubble3D val="0"/>
            <c:spPr>
              <a:solidFill>
                <a:srgbClr val="3741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AC7-4CFA-B4E7-03AE16BD26F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AC7-4CFA-B4E7-03AE16BD26F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AC7-4CFA-B4E7-03AE16BD26F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AC7-4CFA-B4E7-03AE16BD26F9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AC7-4CFA-B4E7-03AE16BD26F9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AC7-4CFA-B4E7-03AE16BD26F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#VeganBeauty</c:v>
                </c:pt>
                <c:pt idx="1">
                  <c:v>#BoldLooks</c:v>
                </c:pt>
                <c:pt idx="2">
                  <c:v>#CrueltyFree</c:v>
                </c:pt>
                <c:pt idx="3">
                  <c:v>#SugarCosmetics</c:v>
                </c:pt>
                <c:pt idx="4">
                  <c:v>#MakeupGoals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19982</c:v>
                </c:pt>
                <c:pt idx="1">
                  <c:v>19956</c:v>
                </c:pt>
                <c:pt idx="2">
                  <c:v>20197</c:v>
                </c:pt>
                <c:pt idx="3">
                  <c:v>19891</c:v>
                </c:pt>
                <c:pt idx="4">
                  <c:v>20018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AC7-4CFA-B4E7-03AE16BD26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0A2E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0A2E"/>
                </a:solidFill>
                <a:latin typeface="Arial"/>
              </a:rPr>
              <a:t>Avg Engagement Rate by Campaign Type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Engagement Rate</c:v>
                </c:pt>
              </c:strCache>
            </c:strRef>
          </c:tx>
          <c:spPr>
            <a:solidFill>
              <a:srgbClr val="EC4899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519-4C05-B8B3-46B05D97C7CB}"/>
              </c:ext>
            </c:extLst>
          </c:dPt>
          <c:dPt>
            <c:idx val="1"/>
            <c:invertIfNegative val="0"/>
            <c:bubble3D val="0"/>
            <c:spPr>
              <a:solidFill>
                <a:srgbClr val="6B21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519-4C05-B8B3-46B05D97C7CB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519-4C05-B8B3-46B05D97C7CB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519-4C05-B8B3-46B05D97C7CB}"/>
              </c:ext>
            </c:extLst>
          </c:dPt>
          <c:dPt>
            <c:idx val="4"/>
            <c:invertIfNegative val="0"/>
            <c:bubble3D val="0"/>
            <c:spPr>
              <a:solidFill>
                <a:srgbClr val="6B72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519-4C05-B8B3-46B05D97C7CB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18.59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519-4C05-B8B3-46B05D97C7C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18.58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519-4C05-B8B3-46B05D97C7C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18.56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062260536398468"/>
                      <c:h val="5.1638176638176637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5-4519-4C05-B8B3-46B05D97C7C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dirty="0"/>
                      <a:t>18.49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935823754789269"/>
                      <c:h val="5.1638176638176637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7-4519-4C05-B8B3-46B05D97C7C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dirty="0"/>
                      <a:t>18.44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541187739463602"/>
                      <c:h val="5.1638176638176637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9-4519-4C05-B8B3-46B05D97C7CB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7415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Influencer Collab</c:v>
                </c:pt>
                <c:pt idx="1">
                  <c:v>Tutorial</c:v>
                </c:pt>
                <c:pt idx="2">
                  <c:v>Giveaway</c:v>
                </c:pt>
                <c:pt idx="3">
                  <c:v>Product Launch</c:v>
                </c:pt>
                <c:pt idx="4">
                  <c:v>Festive Offer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18.59</c:v>
                </c:pt>
                <c:pt idx="1">
                  <c:v>18.579999999999998</c:v>
                </c:pt>
                <c:pt idx="2">
                  <c:v>18.559999999999999</c:v>
                </c:pt>
                <c:pt idx="3">
                  <c:v>18.489999999999998</c:v>
                </c:pt>
                <c:pt idx="4">
                  <c:v>18.440000000000001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519-4C05-B8B3-46B05D97C7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18.38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0A2E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A0A2E"/>
                </a:solidFill>
                <a:latin typeface="Arial"/>
              </a:rPr>
              <a:t>Recommended Content Mix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Content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C89-425E-9511-42390366BB25}"/>
              </c:ext>
            </c:extLst>
          </c:dPt>
          <c:dPt>
            <c:idx val="1"/>
            <c:bubble3D val="0"/>
            <c:spPr>
              <a:solidFill>
                <a:srgbClr val="6B21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C89-425E-9511-42390366BB25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C89-425E-9511-42390366BB25}"/>
              </c:ext>
            </c:extLst>
          </c:dPt>
          <c:dPt>
            <c:idx val="3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C89-425E-9511-42390366BB2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C89-425E-9511-42390366BB2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C89-425E-9511-42390366BB2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C89-425E-9511-42390366BB25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C89-425E-9511-42390366BB2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Reels 35%</c:v>
                </c:pt>
                <c:pt idx="1">
                  <c:v>Stories 30%</c:v>
                </c:pt>
                <c:pt idx="2">
                  <c:v>Images 25%</c:v>
                </c:pt>
                <c:pt idx="3">
                  <c:v>Videos 10%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30</c:v>
                </c:pt>
                <c:pt idx="2">
                  <c:v>25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C89-425E-9511-42390366BB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0.8127</cdr:x>
      <cdr:y>0.56667</cdr:y>
    </cdr:from>
    <cdr:to>
      <cdr:x>0.92958</cdr:x>
      <cdr:y>0.63333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510E587F-69ED-1131-A38D-D5E83EAF6C12}"/>
            </a:ext>
          </a:extLst>
        </cdr:cNvPr>
        <cdr:cNvSpPr txBox="1"/>
      </cdr:nvSpPr>
      <cdr:spPr>
        <a:xfrm xmlns:a="http://schemas.openxmlformats.org/drawingml/2006/main">
          <a:off x="4087223" y="2020824"/>
          <a:ext cx="587828" cy="23774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IN" sz="1100" kern="1200" dirty="0">
              <a:solidFill>
                <a:schemeClr val="bg1"/>
              </a:solidFill>
            </a:rPr>
            <a:t>18.42</a:t>
          </a:r>
        </a:p>
      </cdr:txBody>
    </cdr:sp>
  </cdr:relSizeAnchor>
  <cdr:relSizeAnchor xmlns:cdr="http://schemas.openxmlformats.org/drawingml/2006/chartDrawing">
    <cdr:from>
      <cdr:x>0.39567</cdr:x>
      <cdr:y>0.23077</cdr:y>
    </cdr:from>
    <cdr:to>
      <cdr:x>0.5</cdr:x>
      <cdr:y>0.29744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5F1F0B72-AC87-7626-AE3E-DDCEC97A28CE}"/>
            </a:ext>
          </a:extLst>
        </cdr:cNvPr>
        <cdr:cNvSpPr txBox="1"/>
      </cdr:nvSpPr>
      <cdr:spPr>
        <a:xfrm xmlns:a="http://schemas.openxmlformats.org/drawingml/2006/main">
          <a:off x="1989909" y="822961"/>
          <a:ext cx="524691" cy="23774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IN" sz="1100" b="1" kern="1200" dirty="0">
              <a:solidFill>
                <a:schemeClr val="bg1"/>
              </a:solidFill>
            </a:rPr>
            <a:t>18.60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3631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EC4899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325880" y="502920"/>
            <a:ext cx="1188720" cy="1188720"/>
          </a:xfrm>
          <a:prstGeom prst="ellipse">
            <a:avLst/>
          </a:prstGeom>
          <a:solidFill>
            <a:srgbClr val="EC4899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713232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8745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SUGAR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320040" y="2423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kern="0" spc="600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COSMETICS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20040" y="2971800"/>
            <a:ext cx="32004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" y="309067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Insights Report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0040" y="3520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2024 – April 2025  |  50,000 Posts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7680" y="1188720"/>
            <a:ext cx="2194560" cy="1371600"/>
          </a:xfrm>
          <a:prstGeom prst="rect">
            <a:avLst/>
          </a:prstGeom>
          <a:solidFill>
            <a:srgbClr val="6B21A8">
              <a:alpha val="5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297680" y="13258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1.28B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4297680" y="1965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766560" y="1188720"/>
            <a:ext cx="2194560" cy="1371600"/>
          </a:xfrm>
          <a:prstGeom prst="rect">
            <a:avLst/>
          </a:prstGeom>
          <a:solidFill>
            <a:srgbClr val="6B21A8">
              <a:alpha val="5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766560" y="13258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987M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766560" y="1965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297680" y="2834640"/>
            <a:ext cx="2194560" cy="1371600"/>
          </a:xfrm>
          <a:prstGeom prst="rect">
            <a:avLst/>
          </a:prstGeom>
          <a:solidFill>
            <a:srgbClr val="6B21A8">
              <a:alpha val="5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297680" y="29718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18.53%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4297680" y="3611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Engagement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766560" y="2834640"/>
            <a:ext cx="2194560" cy="1371600"/>
          </a:xfrm>
          <a:prstGeom prst="rect">
            <a:avLst/>
          </a:prstGeom>
          <a:solidFill>
            <a:srgbClr val="6B21A8">
              <a:alpha val="5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766560" y="29718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50K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6766560" y="3611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Analysed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023360" y="4389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Social Media Strategy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4160520" cy="621792"/>
          </a:xfrm>
          <a:prstGeom prst="rect">
            <a:avLst/>
          </a:prstGeom>
          <a:solidFill>
            <a:srgbClr val="F3E8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411480" cy="621792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88720"/>
            <a:ext cx="411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" y="122529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 KPIs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" y="149961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at a glance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938528"/>
            <a:ext cx="41605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938528"/>
            <a:ext cx="411480" cy="621792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938528"/>
            <a:ext cx="411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528" y="197510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Posting Trend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95528" y="22494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volume over 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688336"/>
            <a:ext cx="4160520" cy="621792"/>
          </a:xfrm>
          <a:prstGeom prst="rect">
            <a:avLst/>
          </a:prstGeom>
          <a:solidFill>
            <a:srgbClr val="F3E8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688336"/>
            <a:ext cx="411480" cy="621792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2688336"/>
            <a:ext cx="411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5528" y="272491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10 Posts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5528" y="29992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performing content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438144"/>
            <a:ext cx="41605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438144"/>
            <a:ext cx="411480" cy="621792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438144"/>
            <a:ext cx="411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95528" y="34747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 Type Performance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5528" y="37490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vs Stories vs Images vs Videos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187952"/>
            <a:ext cx="4160520" cy="621792"/>
          </a:xfrm>
          <a:prstGeom prst="rect">
            <a:avLst/>
          </a:prstGeom>
          <a:solidFill>
            <a:srgbClr val="F3E8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4187952"/>
            <a:ext cx="411480" cy="621792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4187952"/>
            <a:ext cx="411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95528" y="422452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of Week Analysis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5528" y="44988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days to post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1188720"/>
            <a:ext cx="41605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1188720"/>
            <a:ext cx="411480" cy="621792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1188720"/>
            <a:ext cx="411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76088" y="122529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Engagement Funnel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76088" y="149961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 → Saves journey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1938528"/>
            <a:ext cx="4160520" cy="621792"/>
          </a:xfrm>
          <a:prstGeom prst="rect">
            <a:avLst/>
          </a:prstGeom>
          <a:solidFill>
            <a:srgbClr val="F3E8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1938528"/>
            <a:ext cx="411480" cy="621792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1938528"/>
            <a:ext cx="411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76088" y="197510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Hashtag Analysis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76088" y="22494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tags drive results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2688336"/>
            <a:ext cx="41605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2688336"/>
            <a:ext cx="411480" cy="621792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41" name="Text 39"/>
          <p:cNvSpPr/>
          <p:nvPr/>
        </p:nvSpPr>
        <p:spPr>
          <a:xfrm>
            <a:off x="4800600" y="2688336"/>
            <a:ext cx="411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276088" y="272491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Dashboard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76088" y="29992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Instagram Insights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00600" y="3438144"/>
            <a:ext cx="4160520" cy="621792"/>
          </a:xfrm>
          <a:prstGeom prst="rect">
            <a:avLst/>
          </a:prstGeom>
          <a:solidFill>
            <a:srgbClr val="F3E8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00600" y="3438144"/>
            <a:ext cx="411480" cy="621792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46" name="Text 44"/>
          <p:cNvSpPr/>
          <p:nvPr/>
        </p:nvSpPr>
        <p:spPr>
          <a:xfrm>
            <a:off x="4800600" y="3438144"/>
            <a:ext cx="411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276088" y="34747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 Recommendations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276088" y="37490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action plan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00600" y="4187952"/>
            <a:ext cx="41605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800600" y="4187952"/>
            <a:ext cx="411480" cy="621792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51" name="Text 49"/>
          <p:cNvSpPr/>
          <p:nvPr/>
        </p:nvSpPr>
        <p:spPr>
          <a:xfrm>
            <a:off x="4800600" y="4187952"/>
            <a:ext cx="411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276088" y="422452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Campaign Ideas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276088" y="44988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ready-to-launch campaigns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21A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1: Overview KPIs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1143000"/>
            <a:ext cx="1965960" cy="1600200"/>
          </a:xfrm>
          <a:prstGeom prst="rect">
            <a:avLst/>
          </a:prstGeom>
          <a:solidFill>
            <a:srgbClr val="6B21A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23444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16459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50,000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74320" y="222199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Posts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450592" y="1143000"/>
            <a:ext cx="1965960" cy="1600200"/>
          </a:xfrm>
          <a:prstGeom prst="rect">
            <a:avLst/>
          </a:prstGeom>
          <a:solidFill>
            <a:srgbClr val="0D5C8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832" y="123444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450592" y="16459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1.28B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2450592" y="222199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Impressions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626864" y="1143000"/>
            <a:ext cx="1965960" cy="160020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4104" y="123444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26864" y="16459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987M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4626864" y="222199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Reach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6803136" y="1143000"/>
            <a:ext cx="1965960" cy="1600200"/>
          </a:xfrm>
          <a:prstGeom prst="rect">
            <a:avLst/>
          </a:prstGeom>
          <a:solidFill>
            <a:srgbClr val="EC489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0376" y="1234440"/>
            <a:ext cx="411480" cy="4114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803136" y="16459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18.53%</a:t>
            </a:r>
            <a:endParaRPr lang="en-US" sz="2200" dirty="0"/>
          </a:p>
        </p:txBody>
      </p:sp>
      <p:sp>
        <p:nvSpPr>
          <p:cNvPr id="20" name="Text 13"/>
          <p:cNvSpPr/>
          <p:nvPr/>
        </p:nvSpPr>
        <p:spPr>
          <a:xfrm>
            <a:off x="6803136" y="222199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Engagement Rate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274320" y="3017520"/>
            <a:ext cx="1965960" cy="1600200"/>
          </a:xfrm>
          <a:prstGeom prst="rect">
            <a:avLst/>
          </a:prstGeom>
          <a:solidFill>
            <a:srgbClr val="9D174D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3108960"/>
            <a:ext cx="411480" cy="4114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274320" y="35204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147.7M</a:t>
            </a:r>
            <a:endParaRPr lang="en-US" sz="2200" dirty="0"/>
          </a:p>
        </p:txBody>
      </p:sp>
      <p:sp>
        <p:nvSpPr>
          <p:cNvPr id="24" name="Text 16"/>
          <p:cNvSpPr/>
          <p:nvPr/>
        </p:nvSpPr>
        <p:spPr>
          <a:xfrm>
            <a:off x="274320" y="409651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Likes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2450592" y="3017520"/>
            <a:ext cx="1965960" cy="160020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7832" y="3108960"/>
            <a:ext cx="411480" cy="4114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2450592" y="35204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18.4M</a:t>
            </a:r>
            <a:endParaRPr lang="en-US" sz="2200" dirty="0"/>
          </a:p>
        </p:txBody>
      </p:sp>
      <p:sp>
        <p:nvSpPr>
          <p:cNvPr id="28" name="Text 19"/>
          <p:cNvSpPr/>
          <p:nvPr/>
        </p:nvSpPr>
        <p:spPr>
          <a:xfrm>
            <a:off x="2450592" y="409651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Comments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4626864" y="3017520"/>
            <a:ext cx="1965960" cy="160020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4104" y="3108960"/>
            <a:ext cx="411480" cy="41148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4626864" y="35204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8.1M</a:t>
            </a:r>
            <a:endParaRPr lang="en-US" sz="2200" dirty="0"/>
          </a:p>
        </p:txBody>
      </p:sp>
      <p:sp>
        <p:nvSpPr>
          <p:cNvPr id="32" name="Text 22"/>
          <p:cNvSpPr/>
          <p:nvPr/>
        </p:nvSpPr>
        <p:spPr>
          <a:xfrm>
            <a:off x="4626864" y="409651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Shares</a:t>
            </a:r>
            <a:endParaRPr lang="en-US" sz="1000" dirty="0"/>
          </a:p>
        </p:txBody>
      </p:sp>
      <p:sp>
        <p:nvSpPr>
          <p:cNvPr id="33" name="Shape 23"/>
          <p:cNvSpPr/>
          <p:nvPr/>
        </p:nvSpPr>
        <p:spPr>
          <a:xfrm>
            <a:off x="6803136" y="3017520"/>
            <a:ext cx="1965960" cy="1600200"/>
          </a:xfrm>
          <a:prstGeom prst="rect">
            <a:avLst/>
          </a:prstGeom>
          <a:solidFill>
            <a:srgbClr val="D9770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0376" y="3108960"/>
            <a:ext cx="411480" cy="41148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6803136" y="35204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8.85M</a:t>
            </a:r>
            <a:endParaRPr lang="en-US" sz="2200" dirty="0"/>
          </a:p>
        </p:txBody>
      </p:sp>
      <p:sp>
        <p:nvSpPr>
          <p:cNvPr id="36" name="Text 25"/>
          <p:cNvSpPr/>
          <p:nvPr/>
        </p:nvSpPr>
        <p:spPr>
          <a:xfrm>
            <a:off x="6803136" y="409651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Saves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0A2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2: Monthly Posting Trend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51560"/>
          <a:ext cx="539496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897880" y="1051560"/>
            <a:ext cx="2971800" cy="3749040"/>
          </a:xfrm>
          <a:prstGeom prst="rect">
            <a:avLst/>
          </a:prstGeom>
          <a:solidFill>
            <a:srgbClr val="1A0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989320" y="11430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035040" y="16916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Peak month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035040" y="192938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2025 with 4,296 posts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035040" y="22860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📉 Lowest month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035040" y="25237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2024 (partial – 1,626)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035040" y="28803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Avg monthly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035040" y="311810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~4,090 posts/month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035040" y="3474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Feb–Apr 2025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035040" y="371246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trend detected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035040" y="40690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Consistency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035040" y="430682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posting cadence maintained for 12 months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0A2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Tasks 3 &amp; 4: Top 10 Posts by Likes &amp; Engagement Rate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51560"/>
          <a:ext cx="42062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754880" y="1051560"/>
          <a:ext cx="42062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Text 2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posts are Influencer Collab &amp; Giveaway campaigns using #SugarCosmetics + #CrueltyFree — max engagement rate hits 33.17%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21A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5: Post Type Performance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64559782"/>
              </p:ext>
            </p:extLst>
          </p:nvPr>
        </p:nvGraphicFramePr>
        <p:xfrm>
          <a:off x="274320" y="1051560"/>
          <a:ext cx="50292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577840" y="1097280"/>
            <a:ext cx="3291840" cy="822960"/>
          </a:xfrm>
          <a:prstGeom prst="rect">
            <a:avLst/>
          </a:prstGeom>
          <a:solidFill>
            <a:srgbClr val="EC489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577840" y="1097280"/>
            <a:ext cx="502920" cy="82296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5577840" y="109728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6144768" y="115214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🎬 Reel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144768" y="1389888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18.61% engagement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144768" y="158191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engagement driver — post 35% of content as Reels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577840" y="2057400"/>
            <a:ext cx="3291840" cy="822960"/>
          </a:xfrm>
          <a:prstGeom prst="rect">
            <a:avLst/>
          </a:prstGeom>
          <a:solidFill>
            <a:srgbClr val="6B21A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577840" y="2057400"/>
            <a:ext cx="502920" cy="82296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5577840" y="205740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2ND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144768" y="211226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📖 Story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44768" y="2350008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18.60% engagement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144768" y="254203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touchpoint — 30% of content mix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577840" y="3017520"/>
            <a:ext cx="3291840" cy="82296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577840" y="3017520"/>
            <a:ext cx="502920" cy="82296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5577840" y="30175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3RD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6144768" y="307238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🎥 Video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144768" y="3310128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18.50% engagement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144768" y="350215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Tutorials &amp; demos — 10% deep content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5577840" y="3977640"/>
            <a:ext cx="3291840" cy="822960"/>
          </a:xfrm>
          <a:prstGeom prst="rect">
            <a:avLst/>
          </a:prstGeom>
          <a:solidFill>
            <a:srgbClr val="37415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577840" y="3977640"/>
            <a:ext cx="502920" cy="82296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26" name="Text 22"/>
          <p:cNvSpPr/>
          <p:nvPr/>
        </p:nvSpPr>
        <p:spPr>
          <a:xfrm>
            <a:off x="5577840" y="39776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4TH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6144768" y="403250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🖼 Image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144768" y="4270248"/>
            <a:ext cx="2606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18.42% engagement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6144768" y="446227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reach &amp; follows — 25% of mix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0A2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6: Day of Week Analysis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959174996"/>
              </p:ext>
            </p:extLst>
          </p:nvPr>
        </p:nvGraphicFramePr>
        <p:xfrm>
          <a:off x="274320" y="1051560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989320" y="1051560"/>
            <a:ext cx="2880360" cy="3566160"/>
          </a:xfrm>
          <a:prstGeom prst="rect">
            <a:avLst/>
          </a:prstGeom>
          <a:solidFill>
            <a:srgbClr val="1A0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080760" y="111556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Posting Priority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035040" y="1536192"/>
            <a:ext cx="2788920" cy="402336"/>
          </a:xfrm>
          <a:prstGeom prst="rect">
            <a:avLst/>
          </a:prstGeom>
          <a:solidFill>
            <a:srgbClr val="1E0A3C"/>
          </a:solidFill>
          <a:ln/>
        </p:spPr>
      </p:sp>
      <p:sp>
        <p:nvSpPr>
          <p:cNvPr id="9" name="Text 5"/>
          <p:cNvSpPr/>
          <p:nvPr/>
        </p:nvSpPr>
        <p:spPr>
          <a:xfrm>
            <a:off x="6080760" y="153619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Wed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748272" y="1536192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18.63%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662672" y="1536192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HIGH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035040" y="1993392"/>
            <a:ext cx="2788920" cy="402336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13" name="Text 9"/>
          <p:cNvSpPr/>
          <p:nvPr/>
        </p:nvSpPr>
        <p:spPr>
          <a:xfrm>
            <a:off x="6080760" y="199339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Sat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748272" y="1993392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18.59%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662672" y="1993392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HIGH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035040" y="2450592"/>
            <a:ext cx="2788920" cy="402336"/>
          </a:xfrm>
          <a:prstGeom prst="rect">
            <a:avLst/>
          </a:prstGeom>
          <a:solidFill>
            <a:srgbClr val="1E0A3C"/>
          </a:solidFill>
          <a:ln/>
        </p:spPr>
      </p:sp>
      <p:sp>
        <p:nvSpPr>
          <p:cNvPr id="17" name="Text 13"/>
          <p:cNvSpPr/>
          <p:nvPr/>
        </p:nvSpPr>
        <p:spPr>
          <a:xfrm>
            <a:off x="6080760" y="245059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748272" y="2450592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18.57%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7662672" y="2450592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MED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035040" y="2907792"/>
            <a:ext cx="2788920" cy="402336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21" name="Text 17"/>
          <p:cNvSpPr/>
          <p:nvPr/>
        </p:nvSpPr>
        <p:spPr>
          <a:xfrm>
            <a:off x="6080760" y="290779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Tue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748272" y="2907792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18.57%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7662672" y="2907792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MED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035040" y="3364992"/>
            <a:ext cx="2788920" cy="402336"/>
          </a:xfrm>
          <a:prstGeom prst="rect">
            <a:avLst/>
          </a:prstGeom>
          <a:solidFill>
            <a:srgbClr val="1E0A3C"/>
          </a:solidFill>
          <a:ln/>
        </p:spPr>
      </p:sp>
      <p:sp>
        <p:nvSpPr>
          <p:cNvPr id="25" name="Text 21"/>
          <p:cNvSpPr/>
          <p:nvPr/>
        </p:nvSpPr>
        <p:spPr>
          <a:xfrm>
            <a:off x="6080760" y="336499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6748272" y="3364992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18.48%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7662672" y="3364992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LOW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035040" y="3822192"/>
            <a:ext cx="2788920" cy="402336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29" name="Text 25"/>
          <p:cNvSpPr/>
          <p:nvPr/>
        </p:nvSpPr>
        <p:spPr>
          <a:xfrm>
            <a:off x="6080760" y="382219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Thu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6748272" y="3822192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18.47%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7662672" y="3822192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LOW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6035040" y="4279392"/>
            <a:ext cx="2788920" cy="402336"/>
          </a:xfrm>
          <a:prstGeom prst="rect">
            <a:avLst/>
          </a:prstGeom>
          <a:solidFill>
            <a:srgbClr val="1E0A3C"/>
          </a:solidFill>
          <a:ln/>
        </p:spPr>
      </p:sp>
      <p:sp>
        <p:nvSpPr>
          <p:cNvPr id="33" name="Text 29"/>
          <p:cNvSpPr/>
          <p:nvPr/>
        </p:nvSpPr>
        <p:spPr>
          <a:xfrm>
            <a:off x="6080760" y="4279392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Sun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6748272" y="4279392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18.41%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7662672" y="4279392"/>
            <a:ext cx="1115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 SKIP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B21A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7: Engagement Funnel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754880" cy="512064"/>
          </a:xfrm>
          <a:prstGeom prst="rect">
            <a:avLst/>
          </a:prstGeom>
          <a:solidFill>
            <a:srgbClr val="4472C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105156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Impressions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1051560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1,276,045,750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0" y="1124712"/>
            <a:ext cx="914400" cy="347472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0" y="112471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994501" y="1709928"/>
            <a:ext cx="3680277" cy="512064"/>
          </a:xfrm>
          <a:prstGeom prst="rect">
            <a:avLst/>
          </a:prstGeom>
          <a:solidFill>
            <a:srgbClr val="2E75B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74320" y="1709928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Reach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40221" y="1709928"/>
            <a:ext cx="3588837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987,423,288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0" y="1783080"/>
            <a:ext cx="914400" cy="347472"/>
          </a:xfrm>
          <a:prstGeom prst="rect">
            <a:avLst/>
          </a:prstGeom>
          <a:solidFill>
            <a:srgbClr val="DC262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486400" y="178308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-22.6%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558857" y="2368296"/>
            <a:ext cx="551566" cy="512064"/>
          </a:xfrm>
          <a:prstGeom prst="rect">
            <a:avLst/>
          </a:prstGeom>
          <a:solidFill>
            <a:srgbClr val="ED7D3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274320" y="2368296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743200" y="2368296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147,728,279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0" y="2441448"/>
            <a:ext cx="914400" cy="347472"/>
          </a:xfrm>
          <a:prstGeom prst="rect">
            <a:avLst/>
          </a:prstGeom>
          <a:solidFill>
            <a:srgbClr val="DC262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486400" y="244144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-85.0%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720340" y="3026664"/>
            <a:ext cx="228600" cy="512064"/>
          </a:xfrm>
          <a:prstGeom prst="rect">
            <a:avLst/>
          </a:prstGeom>
          <a:solidFill>
            <a:srgbClr val="FF000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274320" y="3026664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Comments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743200" y="3026664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18,441,526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486400" y="3099816"/>
            <a:ext cx="914400" cy="347472"/>
          </a:xfrm>
          <a:prstGeom prst="rect">
            <a:avLst/>
          </a:prstGeom>
          <a:solidFill>
            <a:srgbClr val="DC262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486400" y="309981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-87.5%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720340" y="3685032"/>
            <a:ext cx="228600" cy="512064"/>
          </a:xfrm>
          <a:prstGeom prst="rect">
            <a:avLst/>
          </a:prstGeom>
          <a:solidFill>
            <a:srgbClr val="70AD4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274320" y="3685032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743200" y="3685032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8,096,714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486400" y="3758184"/>
            <a:ext cx="914400" cy="347472"/>
          </a:xfrm>
          <a:prstGeom prst="rect">
            <a:avLst/>
          </a:prstGeom>
          <a:solidFill>
            <a:srgbClr val="DC262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5486400" y="375818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-56.1%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720340" y="4343400"/>
            <a:ext cx="228600" cy="512064"/>
          </a:xfrm>
          <a:prstGeom prst="rect">
            <a:avLst/>
          </a:prstGeom>
          <a:solidFill>
            <a:srgbClr val="00B0F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274320" y="434340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Saves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743200" y="4343400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8,849,436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486400" y="4416552"/>
            <a:ext cx="914400" cy="347472"/>
          </a:xfrm>
          <a:prstGeom prst="rect">
            <a:avLst/>
          </a:prstGeom>
          <a:solidFill>
            <a:srgbClr val="16A3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5486400" y="441655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+9.3%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583680" y="1051560"/>
            <a:ext cx="2331720" cy="3931920"/>
          </a:xfrm>
          <a:prstGeom prst="rect">
            <a:avLst/>
          </a:prstGeom>
          <a:solidFill>
            <a:srgbClr val="1E0A3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6675120" y="11430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Insights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6675120" y="1719072"/>
            <a:ext cx="2057400" cy="77724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38" name="Text 35"/>
          <p:cNvSpPr/>
          <p:nvPr/>
        </p:nvSpPr>
        <p:spPr>
          <a:xfrm>
            <a:off x="6720840" y="17373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of viewers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like content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Biggest gap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6675120" y="2633472"/>
            <a:ext cx="2057400" cy="777240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40" name="Text 37"/>
          <p:cNvSpPr/>
          <p:nvPr/>
        </p:nvSpPr>
        <p:spPr>
          <a:xfrm>
            <a:off x="6720840" y="26517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= only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1.4% of impressions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Low engagement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6675120" y="3547872"/>
            <a:ext cx="2057400" cy="77724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42" name="Text 39"/>
          <p:cNvSpPr/>
          <p:nvPr/>
        </p:nvSpPr>
        <p:spPr>
          <a:xfrm>
            <a:off x="6720840" y="35661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&gt; Shares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Content has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save-worthy value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6675120" y="4462272"/>
            <a:ext cx="2057400" cy="777240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44" name="Text 41"/>
          <p:cNvSpPr/>
          <p:nvPr/>
        </p:nvSpPr>
        <p:spPr>
          <a:xfrm>
            <a:off x="6720840" y="448056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hooks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strong CTAs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close leak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0A2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8: Hashtag Performance Analysis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51560"/>
          <a:ext cx="51206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303520" y="1051560"/>
          <a:ext cx="35661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Shape 2"/>
          <p:cNvSpPr/>
          <p:nvPr/>
        </p:nvSpPr>
        <p:spPr>
          <a:xfrm>
            <a:off x="274320" y="3456432"/>
            <a:ext cx="1965960" cy="1371600"/>
          </a:xfrm>
          <a:prstGeom prst="rect">
            <a:avLst/>
          </a:prstGeom>
          <a:solidFill>
            <a:srgbClr val="1A0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3"/>
          <p:cNvSpPr/>
          <p:nvPr/>
        </p:nvSpPr>
        <p:spPr>
          <a:xfrm>
            <a:off x="274320" y="3456432"/>
            <a:ext cx="196596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4"/>
          <p:cNvSpPr/>
          <p:nvPr/>
        </p:nvSpPr>
        <p:spPr>
          <a:xfrm>
            <a:off x="274320" y="345643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#VeganBeauty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347472" y="3767328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engagement rate (18.60%) — lead with this tag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2450592" y="3456432"/>
            <a:ext cx="1965960" cy="1371600"/>
          </a:xfrm>
          <a:prstGeom prst="rect">
            <a:avLst/>
          </a:prstGeom>
          <a:solidFill>
            <a:srgbClr val="1A0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2450592" y="3456432"/>
            <a:ext cx="1965960" cy="274320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13" name="Text 8"/>
          <p:cNvSpPr/>
          <p:nvPr/>
        </p:nvSpPr>
        <p:spPr>
          <a:xfrm>
            <a:off x="2450592" y="345643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#BoldLooks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2523744" y="3767328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best engagement + highest avg reach (19,855)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626864" y="3456432"/>
            <a:ext cx="1965960" cy="1371600"/>
          </a:xfrm>
          <a:prstGeom prst="rect">
            <a:avLst/>
          </a:prstGeom>
          <a:solidFill>
            <a:srgbClr val="1A0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626864" y="3456432"/>
            <a:ext cx="1965960" cy="2743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7" name="Text 12"/>
          <p:cNvSpPr/>
          <p:nvPr/>
        </p:nvSpPr>
        <p:spPr>
          <a:xfrm>
            <a:off x="4626864" y="345643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#CrueltyFree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4700016" y="3767328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used tag (20,197 posts) — great for brand trust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803136" y="3456432"/>
            <a:ext cx="1965960" cy="1371600"/>
          </a:xfrm>
          <a:prstGeom prst="rect">
            <a:avLst/>
          </a:prstGeom>
          <a:solidFill>
            <a:srgbClr val="1A0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03136" y="3456432"/>
            <a:ext cx="1965960" cy="27432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1" name="Text 16"/>
          <p:cNvSpPr/>
          <p:nvPr/>
        </p:nvSpPr>
        <p:spPr>
          <a:xfrm>
            <a:off x="6803136" y="345643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#SugarCosmetics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876288" y="3767328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reach — avoid as primary tag; limits discoverability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C489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9: Final Dashboard – Instagram Insights Report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1051560"/>
            <a:ext cx="4114800" cy="640080"/>
          </a:xfrm>
          <a:prstGeom prst="rect">
            <a:avLst/>
          </a:prstGeom>
          <a:solidFill>
            <a:srgbClr val="4472C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20040" y="10515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Row — 4 summary cards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74320" y="1783080"/>
            <a:ext cx="1965960" cy="1508760"/>
          </a:xfrm>
          <a:prstGeom prst="rect">
            <a:avLst/>
          </a:prstGeom>
          <a:solidFill>
            <a:srgbClr val="2E75B6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0040" y="1783080"/>
            <a:ext cx="18745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Posting Trend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331720" y="1783080"/>
            <a:ext cx="2057400" cy="1508760"/>
          </a:xfrm>
          <a:prstGeom prst="rect">
            <a:avLst/>
          </a:prstGeom>
          <a:solidFill>
            <a:srgbClr val="6B21A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377440" y="1783080"/>
            <a:ext cx="19659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Type Performance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74320" y="3383280"/>
            <a:ext cx="1965960" cy="150876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0040" y="3383280"/>
            <a:ext cx="18745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 Analysis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331720" y="3383280"/>
            <a:ext cx="2057400" cy="150876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377440" y="3383280"/>
            <a:ext cx="19659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Funnel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480560" y="1051560"/>
            <a:ext cx="1965960" cy="3840480"/>
          </a:xfrm>
          <a:prstGeom prst="rect">
            <a:avLst/>
          </a:prstGeom>
          <a:solidFill>
            <a:srgbClr val="1E0A3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526280" y="1051560"/>
            <a:ext cx="1874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Type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Month-Year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537960" y="1051560"/>
            <a:ext cx="2331720" cy="192024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583680" y="105156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Posts by Engagement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537960" y="3063240"/>
            <a:ext cx="2331720" cy="1828800"/>
          </a:xfrm>
          <a:prstGeom prst="rect">
            <a:avLst/>
          </a:prstGeom>
          <a:solidFill>
            <a:srgbClr val="9D174D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583680" y="306324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 Analysis Pie + Bar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74320" y="4800600"/>
            <a:ext cx="8595360" cy="2468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274320" y="4800600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Filter actions applied to ALL worksheets — click any element to cross-filter the entire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0A2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Campaign Type Performance Analysis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855138987"/>
              </p:ext>
            </p:extLst>
          </p:nvPr>
        </p:nvGraphicFramePr>
        <p:xfrm>
          <a:off x="274320" y="105156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806440" y="1097280"/>
            <a:ext cx="3063240" cy="841248"/>
          </a:xfrm>
          <a:prstGeom prst="rect">
            <a:avLst/>
          </a:prstGeom>
          <a:solidFill>
            <a:srgbClr val="EC489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897880" y="1133856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Influencer Collab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897880" y="1371600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18.59% eng  |  19,874 reach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5897880" y="1572768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frequency — top performing campaign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806440" y="2057400"/>
            <a:ext cx="3063240" cy="841248"/>
          </a:xfrm>
          <a:prstGeom prst="rect">
            <a:avLst/>
          </a:prstGeom>
          <a:solidFill>
            <a:srgbClr val="6B21A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897880" y="2093976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Tutorial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897880" y="2331720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18.58% eng  |  19,804 reach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5897880" y="2532888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content builds trust &amp; saves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806440" y="3017520"/>
            <a:ext cx="3063240" cy="841248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897880" y="3054096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Giveaway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897880" y="3291840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18.56% eng  |  19,813 reach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897880" y="3493008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2x/month — avoid over-use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806440" y="3977640"/>
            <a:ext cx="3063240" cy="841248"/>
          </a:xfrm>
          <a:prstGeom prst="rect">
            <a:avLst/>
          </a:prstGeom>
          <a:solidFill>
            <a:srgbClr val="6B728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897880" y="4014216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Festive Offer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897880" y="4251960"/>
            <a:ext cx="2880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18.44% eng  |  19,506 reach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5897880" y="4453128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Revamp to 'gift inspiration' storytelling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7552" y="1828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10: Key Gaps Identified &amp; Recommendations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274320" y="1078992"/>
            <a:ext cx="8595360" cy="585216"/>
          </a:xfrm>
          <a:prstGeom prst="rect">
            <a:avLst/>
          </a:prstGeom>
          <a:solidFill>
            <a:srgbClr val="1E0A3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78992"/>
            <a:ext cx="54864" cy="58521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4"/>
          <p:cNvSpPr/>
          <p:nvPr/>
        </p:nvSpPr>
        <p:spPr>
          <a:xfrm>
            <a:off x="384048" y="1078992"/>
            <a:ext cx="1005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Critical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417320" y="11155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 drop: Reach → Likes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417320" y="138074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strong visual hooks in first 2 sec of Reels; explicit CTAs in captions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74320" y="1746504"/>
            <a:ext cx="8595360" cy="585216"/>
          </a:xfrm>
          <a:prstGeom prst="rect">
            <a:avLst/>
          </a:prstGeom>
          <a:solidFill>
            <a:srgbClr val="2D1B6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1746504"/>
            <a:ext cx="54864" cy="58521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9"/>
          <p:cNvSpPr/>
          <p:nvPr/>
        </p:nvSpPr>
        <p:spPr>
          <a:xfrm>
            <a:off x="384048" y="1746504"/>
            <a:ext cx="1005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Critical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417320" y="17830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Comment rate = 1.4%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417320" y="204825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'This or That' posts, question overlays at end of Reels, Story polls weekly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74320" y="2414016"/>
            <a:ext cx="8595360" cy="585216"/>
          </a:xfrm>
          <a:prstGeom prst="rect">
            <a:avLst/>
          </a:prstGeom>
          <a:solidFill>
            <a:srgbClr val="1E0A3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2414016"/>
            <a:ext cx="54864" cy="58521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4"/>
          <p:cNvSpPr/>
          <p:nvPr/>
        </p:nvSpPr>
        <p:spPr>
          <a:xfrm>
            <a:off x="384048" y="2414016"/>
            <a:ext cx="1005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High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417320" y="24505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Shares very low (5.5% of likes)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417320" y="27157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shareable opinion/trend content; 'Did you know' carousel posts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74320" y="3081528"/>
            <a:ext cx="8595360" cy="585216"/>
          </a:xfrm>
          <a:prstGeom prst="rect">
            <a:avLst/>
          </a:prstGeom>
          <a:solidFill>
            <a:srgbClr val="2D1B6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74320" y="3081528"/>
            <a:ext cx="54864" cy="58521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19"/>
          <p:cNvSpPr/>
          <p:nvPr/>
        </p:nvSpPr>
        <p:spPr>
          <a:xfrm>
            <a:off x="384048" y="3081528"/>
            <a:ext cx="1005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High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417320" y="311810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Festive Offer underperforms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417320" y="338328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 discount content as 'gifting inspiration' storytelling with tutorials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74320" y="3749040"/>
            <a:ext cx="8595360" cy="585216"/>
          </a:xfrm>
          <a:prstGeom prst="rect">
            <a:avLst/>
          </a:prstGeom>
          <a:solidFill>
            <a:srgbClr val="1E0A3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74320" y="3749040"/>
            <a:ext cx="54864" cy="58521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4"/>
          <p:cNvSpPr/>
          <p:nvPr/>
        </p:nvSpPr>
        <p:spPr>
          <a:xfrm>
            <a:off x="384048" y="3749040"/>
            <a:ext cx="1005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High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417320" y="378561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#SugarCosmetics limits reach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417320" y="405079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#VeganBeauty + #BoldLooks; use brand tag as secondary only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74320" y="4416552"/>
            <a:ext cx="8595360" cy="585216"/>
          </a:xfrm>
          <a:prstGeom prst="rect">
            <a:avLst/>
          </a:prstGeom>
          <a:solidFill>
            <a:srgbClr val="2D1B6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274320" y="4416552"/>
            <a:ext cx="54864" cy="5852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2" name="Text 29"/>
          <p:cNvSpPr/>
          <p:nvPr/>
        </p:nvSpPr>
        <p:spPr>
          <a:xfrm>
            <a:off x="384048" y="4416552"/>
            <a:ext cx="1005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Medium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417320" y="44531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Sunday — lowest engagement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1417320" y="471830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post evergreen/repurposed content on Sundays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0A2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Posting Strategy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51560"/>
          <a:ext cx="3200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657600" y="1051560"/>
            <a:ext cx="5212080" cy="320040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7" name="Text 3"/>
          <p:cNvSpPr/>
          <p:nvPr/>
        </p:nvSpPr>
        <p:spPr>
          <a:xfrm>
            <a:off x="3657600" y="10515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 Posting Schedule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3657600" y="1417320"/>
            <a:ext cx="5212080" cy="530352"/>
          </a:xfrm>
          <a:prstGeom prst="rect">
            <a:avLst/>
          </a:prstGeom>
          <a:solidFill>
            <a:srgbClr val="F3E8FF"/>
          </a:solidFill>
          <a:ln/>
        </p:spPr>
      </p:sp>
      <p:sp>
        <p:nvSpPr>
          <p:cNvPr id="9" name="Shape 5"/>
          <p:cNvSpPr/>
          <p:nvPr/>
        </p:nvSpPr>
        <p:spPr>
          <a:xfrm>
            <a:off x="3657600" y="1417320"/>
            <a:ext cx="1005840" cy="53035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0" name="Text 6"/>
          <p:cNvSpPr/>
          <p:nvPr/>
        </p:nvSpPr>
        <p:spPr>
          <a:xfrm>
            <a:off x="3657600" y="141732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Wednesday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709160" y="145389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Reels / Tutorials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709160" y="169164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engagement day (18.63%)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040880" y="141732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HIGH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657600" y="2011680"/>
            <a:ext cx="52120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3657600" y="2011680"/>
            <a:ext cx="1005840" cy="53035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6" name="Text 12"/>
          <p:cNvSpPr/>
          <p:nvPr/>
        </p:nvSpPr>
        <p:spPr>
          <a:xfrm>
            <a:off x="3657600" y="201168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Friday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709160" y="204825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Launches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709160" y="228600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Pre-weekend discovery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7040880" y="201168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HIGH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657600" y="2606040"/>
            <a:ext cx="5212080" cy="530352"/>
          </a:xfrm>
          <a:prstGeom prst="rect">
            <a:avLst/>
          </a:prstGeom>
          <a:solidFill>
            <a:srgbClr val="F3E8FF"/>
          </a:solidFill>
          <a:ln/>
        </p:spPr>
      </p:sp>
      <p:sp>
        <p:nvSpPr>
          <p:cNvPr id="21" name="Shape 17"/>
          <p:cNvSpPr/>
          <p:nvPr/>
        </p:nvSpPr>
        <p:spPr>
          <a:xfrm>
            <a:off x="3657600" y="2606040"/>
            <a:ext cx="1005840" cy="530352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22" name="Text 18"/>
          <p:cNvSpPr/>
          <p:nvPr/>
        </p:nvSpPr>
        <p:spPr>
          <a:xfrm>
            <a:off x="3657600" y="260604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Tuesday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709160" y="264261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Stories / BTS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709160" y="288036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 — improve quality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7040880" y="260604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MED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657600" y="3200400"/>
            <a:ext cx="52120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3"/>
          <p:cNvSpPr/>
          <p:nvPr/>
        </p:nvSpPr>
        <p:spPr>
          <a:xfrm>
            <a:off x="3657600" y="3200400"/>
            <a:ext cx="1005840" cy="530352"/>
          </a:xfrm>
          <a:prstGeom prst="rect">
            <a:avLst/>
          </a:prstGeom>
          <a:solidFill>
            <a:srgbClr val="6B21A8"/>
          </a:solidFill>
          <a:ln/>
        </p:spPr>
      </p:sp>
      <p:sp>
        <p:nvSpPr>
          <p:cNvPr id="28" name="Text 24"/>
          <p:cNvSpPr/>
          <p:nvPr/>
        </p:nvSpPr>
        <p:spPr>
          <a:xfrm>
            <a:off x="3657600" y="320040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Saturday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4709160" y="323697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Giveaways / UGC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4709160" y="347472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building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7040880" y="320040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MED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3657600" y="3794760"/>
            <a:ext cx="5212080" cy="530352"/>
          </a:xfrm>
          <a:prstGeom prst="rect">
            <a:avLst/>
          </a:prstGeom>
          <a:solidFill>
            <a:srgbClr val="F3E8FF"/>
          </a:solidFill>
          <a:ln/>
        </p:spPr>
      </p:sp>
      <p:sp>
        <p:nvSpPr>
          <p:cNvPr id="33" name="Shape 29"/>
          <p:cNvSpPr/>
          <p:nvPr/>
        </p:nvSpPr>
        <p:spPr>
          <a:xfrm>
            <a:off x="3657600" y="3794760"/>
            <a:ext cx="1005840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0"/>
          <p:cNvSpPr/>
          <p:nvPr/>
        </p:nvSpPr>
        <p:spPr>
          <a:xfrm>
            <a:off x="3657600" y="379476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Thursday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4709160" y="383133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Repurposed content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4709160" y="406908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Below-average day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7040880" y="379476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LOW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3657600" y="4389120"/>
            <a:ext cx="52120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5"/>
          <p:cNvSpPr/>
          <p:nvPr/>
        </p:nvSpPr>
        <p:spPr>
          <a:xfrm>
            <a:off x="3657600" y="4389120"/>
            <a:ext cx="1005840" cy="53035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0" name="Text 36"/>
          <p:cNvSpPr/>
          <p:nvPr/>
        </p:nvSpPr>
        <p:spPr>
          <a:xfrm>
            <a:off x="3657600" y="438912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Sunday</a:t>
            </a:r>
            <a:endParaRPr lang="en-US" sz="1000" dirty="0"/>
          </a:p>
        </p:txBody>
      </p:sp>
      <p:sp>
        <p:nvSpPr>
          <p:cNvPr id="41" name="Text 37"/>
          <p:cNvSpPr/>
          <p:nvPr/>
        </p:nvSpPr>
        <p:spPr>
          <a:xfrm>
            <a:off x="4709160" y="442569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Evergreen only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4709160" y="466344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engagement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7040880" y="438912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0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 SKIP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3657600" y="4919472"/>
            <a:ext cx="5212080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5" name="Text 41"/>
          <p:cNvSpPr/>
          <p:nvPr/>
        </p:nvSpPr>
        <p:spPr>
          <a:xfrm>
            <a:off x="3657600" y="4919472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 5-6x per week | Prioritise Wednesday &amp; Friday for major content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C489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Proposed Campaign Ideas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1051560"/>
            <a:ext cx="8595360" cy="713232"/>
          </a:xfrm>
          <a:prstGeom prst="rect">
            <a:avLst/>
          </a:prstGeom>
          <a:solidFill>
            <a:srgbClr val="1E0A3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51560"/>
            <a:ext cx="502920" cy="71323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105156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1248" y="109728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#BoldWithSugar — UGC Challenge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41248" y="13533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Reel Challenge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41248" y="1527048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shares, comments &amp; organic reach through user content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217920" y="1179576"/>
            <a:ext cx="2560320" cy="457200"/>
          </a:xfrm>
          <a:prstGeom prst="rect">
            <a:avLst/>
          </a:prstGeom>
          <a:solidFill>
            <a:srgbClr val="EC4899">
              <a:alpha val="4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217920" y="117957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Launch: Wednesday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1856232"/>
            <a:ext cx="8595360" cy="713232"/>
          </a:xfrm>
          <a:prstGeom prst="rect">
            <a:avLst/>
          </a:prstGeom>
          <a:solidFill>
            <a:srgbClr val="1E0A3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4320" y="1856232"/>
            <a:ext cx="502920" cy="7132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2"/>
          <p:cNvSpPr/>
          <p:nvPr/>
        </p:nvSpPr>
        <p:spPr>
          <a:xfrm>
            <a:off x="274320" y="1856232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41248" y="190195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#VeganBeautyWeek — 7-Day Series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41248" y="215798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Educational Series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41248" y="2331720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daily posts: tutorial, ingredient spotlight, giveaway on Day 7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217920" y="1984248"/>
            <a:ext cx="2560320" cy="457200"/>
          </a:xfrm>
          <a:prstGeom prst="rect">
            <a:avLst/>
          </a:prstGeom>
          <a:solidFill>
            <a:srgbClr val="8B5CF6">
              <a:alpha val="4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6217920" y="19842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Partner: 3 micro-influencers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74320" y="2660904"/>
            <a:ext cx="8595360" cy="713232"/>
          </a:xfrm>
          <a:prstGeom prst="rect">
            <a:avLst/>
          </a:prstGeom>
          <a:solidFill>
            <a:srgbClr val="1E0A3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74320" y="2660904"/>
            <a:ext cx="502920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0"/>
          <p:cNvSpPr/>
          <p:nvPr/>
        </p:nvSpPr>
        <p:spPr>
          <a:xfrm>
            <a:off x="274320" y="2660904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41248" y="270662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Influencer Takeover Series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41248" y="296265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Monthly Takeover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841248" y="3136392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48hr Story + Reel takeover by beauty influencers (50K-500K followers)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217920" y="2788920"/>
            <a:ext cx="2560320" cy="457200"/>
          </a:xfrm>
          <a:prstGeom prst="rect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6217920" y="2788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Every 1st Wednesday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74320" y="3465576"/>
            <a:ext cx="8595360" cy="713232"/>
          </a:xfrm>
          <a:prstGeom prst="rect">
            <a:avLst/>
          </a:prstGeom>
          <a:solidFill>
            <a:srgbClr val="1E0A3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274320" y="3465576"/>
            <a:ext cx="502920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8"/>
          <p:cNvSpPr/>
          <p:nvPr/>
        </p:nvSpPr>
        <p:spPr>
          <a:xfrm>
            <a:off x="274320" y="3465576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41248" y="351129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'Save This Look' Carousels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41248" y="37673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Weekly Carousel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841248" y="3941064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6-10 slide save-worthy content: shade guides, routines, comparisons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217920" y="3593592"/>
            <a:ext cx="2560320" cy="457200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6217920" y="35935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Every Friday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274320" y="4270248"/>
            <a:ext cx="8595360" cy="713232"/>
          </a:xfrm>
          <a:prstGeom prst="rect">
            <a:avLst/>
          </a:prstGeom>
          <a:solidFill>
            <a:srgbClr val="1E0A3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274320" y="4270248"/>
            <a:ext cx="502920" cy="713232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39" name="Text 36"/>
          <p:cNvSpPr/>
          <p:nvPr/>
        </p:nvSpPr>
        <p:spPr>
          <a:xfrm>
            <a:off x="274320" y="4270248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841248" y="431596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'Ask Sugar' Weekly Q&amp;A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841248" y="45720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Community Series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841248" y="4745736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poll Monday → Reel answering top questions Wednesday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217920" y="4398264"/>
            <a:ext cx="2560320" cy="457200"/>
          </a:xfrm>
          <a:prstGeom prst="rect">
            <a:avLst/>
          </a:prstGeom>
          <a:solidFill>
            <a:srgbClr val="374151">
              <a:alpha val="40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6217920" y="439826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Ongoing weekly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6B21A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572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" y="19202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182880" y="32918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Cosmetics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Insights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749040" y="274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Priority Actions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749040" y="868680"/>
            <a:ext cx="5120640" cy="402336"/>
          </a:xfrm>
          <a:prstGeom prst="rect">
            <a:avLst/>
          </a:prstGeom>
          <a:solidFill>
            <a:srgbClr val="1E0A3C"/>
          </a:solidFill>
          <a:ln/>
        </p:spPr>
      </p:sp>
      <p:sp>
        <p:nvSpPr>
          <p:cNvPr id="8" name="Shape 5"/>
          <p:cNvSpPr/>
          <p:nvPr/>
        </p:nvSpPr>
        <p:spPr>
          <a:xfrm>
            <a:off x="3840480" y="978408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9" name="Text 6"/>
          <p:cNvSpPr/>
          <p:nvPr/>
        </p:nvSpPr>
        <p:spPr>
          <a:xfrm>
            <a:off x="4160520" y="868680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on Wed &amp; Fri for major content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63840" y="868680"/>
            <a:ext cx="960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749040" y="1325880"/>
            <a:ext cx="5120640" cy="402336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12" name="Shape 9"/>
          <p:cNvSpPr/>
          <p:nvPr/>
        </p:nvSpPr>
        <p:spPr>
          <a:xfrm>
            <a:off x="3840480" y="1435608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3" name="Text 10"/>
          <p:cNvSpPr/>
          <p:nvPr/>
        </p:nvSpPr>
        <p:spPr>
          <a:xfrm>
            <a:off x="4160520" y="1325880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Influencer Collab frequency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863840" y="1325880"/>
            <a:ext cx="960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749040" y="1783080"/>
            <a:ext cx="5120640" cy="402336"/>
          </a:xfrm>
          <a:prstGeom prst="rect">
            <a:avLst/>
          </a:prstGeom>
          <a:solidFill>
            <a:srgbClr val="1E0A3C"/>
          </a:solidFill>
          <a:ln/>
        </p:spPr>
      </p:sp>
      <p:sp>
        <p:nvSpPr>
          <p:cNvPr id="16" name="Shape 13"/>
          <p:cNvSpPr/>
          <p:nvPr/>
        </p:nvSpPr>
        <p:spPr>
          <a:xfrm>
            <a:off x="3840480" y="1892808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4160520" y="1783080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strong CTAs to all captions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863840" y="1783080"/>
            <a:ext cx="960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749040" y="2240280"/>
            <a:ext cx="5120640" cy="402336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20" name="Shape 17"/>
          <p:cNvSpPr/>
          <p:nvPr/>
        </p:nvSpPr>
        <p:spPr>
          <a:xfrm>
            <a:off x="3840480" y="2350008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1" name="Text 18"/>
          <p:cNvSpPr/>
          <p:nvPr/>
        </p:nvSpPr>
        <p:spPr>
          <a:xfrm>
            <a:off x="4160520" y="2240280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#BoldWithSugar UGC challenge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863840" y="2240280"/>
            <a:ext cx="960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749040" y="2697480"/>
            <a:ext cx="5120640" cy="402336"/>
          </a:xfrm>
          <a:prstGeom prst="rect">
            <a:avLst/>
          </a:prstGeom>
          <a:solidFill>
            <a:srgbClr val="1E0A3C"/>
          </a:solidFill>
          <a:ln/>
        </p:spPr>
      </p:sp>
      <p:sp>
        <p:nvSpPr>
          <p:cNvPr id="24" name="Shape 21"/>
          <p:cNvSpPr/>
          <p:nvPr/>
        </p:nvSpPr>
        <p:spPr>
          <a:xfrm>
            <a:off x="3840480" y="2807208"/>
            <a:ext cx="201168" cy="20116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5" name="Text 22"/>
          <p:cNvSpPr/>
          <p:nvPr/>
        </p:nvSpPr>
        <p:spPr>
          <a:xfrm>
            <a:off x="4160520" y="2697480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Save This Look carousels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863840" y="2697480"/>
            <a:ext cx="960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749040" y="3154680"/>
            <a:ext cx="5120640" cy="402336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28" name="Shape 25"/>
          <p:cNvSpPr/>
          <p:nvPr/>
        </p:nvSpPr>
        <p:spPr>
          <a:xfrm>
            <a:off x="3840480" y="3264408"/>
            <a:ext cx="201168" cy="20116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4160520" y="3154680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brand hashtag as primary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863840" y="3154680"/>
            <a:ext cx="960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749040" y="3611880"/>
            <a:ext cx="5120640" cy="402336"/>
          </a:xfrm>
          <a:prstGeom prst="rect">
            <a:avLst/>
          </a:prstGeom>
          <a:solidFill>
            <a:srgbClr val="1E0A3C"/>
          </a:solidFill>
          <a:ln/>
        </p:spPr>
      </p:sp>
      <p:sp>
        <p:nvSpPr>
          <p:cNvPr id="32" name="Shape 29"/>
          <p:cNvSpPr/>
          <p:nvPr/>
        </p:nvSpPr>
        <p:spPr>
          <a:xfrm>
            <a:off x="3840480" y="3721608"/>
            <a:ext cx="201168" cy="20116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4160520" y="3611880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VeganBeautyWeek campaign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863840" y="3611880"/>
            <a:ext cx="960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749040" y="4069080"/>
            <a:ext cx="5120640" cy="402336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36" name="Shape 33"/>
          <p:cNvSpPr/>
          <p:nvPr/>
        </p:nvSpPr>
        <p:spPr>
          <a:xfrm>
            <a:off x="3840480" y="4178808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7" name="Text 34"/>
          <p:cNvSpPr/>
          <p:nvPr/>
        </p:nvSpPr>
        <p:spPr>
          <a:xfrm>
            <a:off x="4160520" y="4069080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Ask Sugar Q&amp;A series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863840" y="4069080"/>
            <a:ext cx="960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3749040" y="4526280"/>
            <a:ext cx="5120640" cy="402336"/>
          </a:xfrm>
          <a:prstGeom prst="rect">
            <a:avLst/>
          </a:prstGeom>
          <a:solidFill>
            <a:srgbClr val="1E0A3C"/>
          </a:solidFill>
          <a:ln/>
        </p:spPr>
      </p:sp>
      <p:sp>
        <p:nvSpPr>
          <p:cNvPr id="40" name="Shape 37"/>
          <p:cNvSpPr/>
          <p:nvPr/>
        </p:nvSpPr>
        <p:spPr>
          <a:xfrm>
            <a:off x="3840480" y="4636008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1" name="Text 38"/>
          <p:cNvSpPr/>
          <p:nvPr/>
        </p:nvSpPr>
        <p:spPr>
          <a:xfrm>
            <a:off x="4160520" y="4526280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caption length &amp; CTA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863840" y="4526280"/>
            <a:ext cx="960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3749040" y="4846320"/>
            <a:ext cx="5120640" cy="25603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4" name="Text 41"/>
          <p:cNvSpPr/>
          <p:nvPr/>
        </p:nvSpPr>
        <p:spPr>
          <a:xfrm>
            <a:off x="3749040" y="484632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Tableau  |  50,000 Posts Analysed  |  Apr 2024 – Apr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1068</Words>
  <Application>Microsoft Office PowerPoint</Application>
  <PresentationFormat>On-screen Show (16:9)</PresentationFormat>
  <Paragraphs>329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Sugar Cosmetics – Instagram Insights Report</dc:title>
  <dc:subject>PptxGenJS Presentation</dc:subject>
  <dc:creator>PptxGenJS</dc:creator>
  <cp:lastModifiedBy>Devi Balaji</cp:lastModifiedBy>
  <cp:revision>4</cp:revision>
  <dcterms:created xsi:type="dcterms:W3CDTF">2026-04-24T05:32:47Z</dcterms:created>
  <dcterms:modified xsi:type="dcterms:W3CDTF">2026-04-29T11:26:20Z</dcterms:modified>
</cp:coreProperties>
</file>